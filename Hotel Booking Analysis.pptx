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8288000" cy="10287000"/>
  <p:notesSz cx="6858000" cy="9144000"/>
  <p:embeddedFontLst>
    <p:embeddedFont>
      <p:font typeface="Inter 1 Bold" charset="1" panose="02000503000000020004"/>
      <p:regular r:id="rId54"/>
    </p:embeddedFont>
    <p:embeddedFont>
      <p:font typeface="Inter 1" charset="1" panose="02000503000000020004"/>
      <p:regular r:id="rId55"/>
    </p:embeddedFont>
    <p:embeddedFont>
      <p:font typeface="Inter 2 Bold" charset="1" panose="020B0802030000000004"/>
      <p:regular r:id="rId56"/>
    </p:embeddedFont>
    <p:embeddedFont>
      <p:font typeface="Inter 2 Medium" charset="1" panose="02000503000000020004"/>
      <p:regular r:id="rId57"/>
    </p:embeddedFont>
    <p:embeddedFont>
      <p:font typeface="Inter 2 Italics" charset="1" panose="020B0502030000000004"/>
      <p:regular r:id="rId58"/>
    </p:embeddedFont>
    <p:embeddedFont>
      <p:font typeface="Inter 2" charset="1" panose="020B0502030000000004"/>
      <p:regular r:id="rId59"/>
    </p:embeddedFont>
    <p:embeddedFont>
      <p:font typeface="JetBrains Mono" charset="1" panose="02010509020102050004"/>
      <p:regular r:id="rId60"/>
    </p:embeddedFont>
    <p:embeddedFont>
      <p:font typeface="JetBrains Mono Bold" charset="1" panose="02010809030102050004"/>
      <p:regular r:id="rId61"/>
    </p:embeddedFont>
    <p:embeddedFont>
      <p:font typeface="Oswald Bold" charset="1" panose="00000800000000000000"/>
      <p:regular r:id="rId62"/>
    </p:embeddedFont>
    <p:embeddedFont>
      <p:font typeface="Aileron Bold" charset="1" panose="00000800000000000000"/>
      <p:regular r:id="rId63"/>
    </p:embeddedFont>
    <p:embeddedFont>
      <p:font typeface="Space Mono Bold" charset="1" panose="02000809030000020004"/>
      <p:regular r:id="rId64"/>
    </p:embeddedFont>
    <p:embeddedFont>
      <p:font typeface="Space Mono" charset="1" panose="02000509040000020004"/>
      <p:regular r:id="rId65"/>
    </p:embeddedFont>
    <p:embeddedFont>
      <p:font typeface="Aileron" charset="1" panose="00000500000000000000"/>
      <p:regular r:id="rId66"/>
    </p:embeddedFont>
    <p:embeddedFont>
      <p:font typeface="DM Sans Bold" charset="1" panose="00000000000000000000"/>
      <p:regular r:id="rId67"/>
    </p:embeddedFont>
    <p:embeddedFont>
      <p:font typeface="DM Sans" charset="1" panose="00000000000000000000"/>
      <p:regular r:id="rId68"/>
    </p:embeddedFont>
    <p:embeddedFont>
      <p:font typeface="Antonio Ultra-Bold" charset="1" panose="02000803000000000000"/>
      <p:regular r:id="rId69"/>
    </p:embeddedFont>
    <p:embeddedFont>
      <p:font typeface="Montserrat Bold" charset="1" panose="00000800000000000000"/>
      <p:regular r:id="rId70"/>
    </p:embeddedFont>
    <p:embeddedFont>
      <p:font typeface="Roboto" charset="1" panose="02000000000000000000"/>
      <p:regular r:id="rId71"/>
    </p:embeddedFont>
    <p:embeddedFont>
      <p:font typeface="Open Sauce Bold" charset="1" panose="00000800000000000000"/>
      <p:regular r:id="rId72"/>
    </p:embeddedFont>
    <p:embeddedFont>
      <p:font typeface="Open Sauce Medium" charset="1" panose="00000600000000000000"/>
      <p:regular r:id="rId73"/>
    </p:embeddedFont>
    <p:embeddedFont>
      <p:font typeface="Roboto Mono" charset="1" panose="00000000000000000000"/>
      <p:regular r:id="rId74"/>
    </p:embeddedFont>
    <p:embeddedFont>
      <p:font typeface="Lexend Deca" charset="1" panose="00000000000000000000"/>
      <p:regular r:id="rId75"/>
    </p:embeddedFont>
    <p:embeddedFont>
      <p:font typeface="Bebas Neue Bold" charset="1" panose="020B0606020202050201"/>
      <p:regular r:id="rId76"/>
    </p:embeddedFont>
    <p:embeddedFont>
      <p:font typeface="Canva Sans Medium" charset="1" panose="020B0603030501040103"/>
      <p:regular r:id="rId77"/>
    </p:embeddedFont>
    <p:embeddedFont>
      <p:font typeface="Canva Sans Bold" charset="1" panose="020B0803030501040103"/>
      <p:regular r:id="rId78"/>
    </p:embeddedFont>
    <p:embeddedFont>
      <p:font typeface="Barlow Condensed Bold" charset="1" panose="00000806000000000000"/>
      <p:regular r:id="rId79"/>
    </p:embeddedFont>
    <p:embeddedFont>
      <p:font typeface="Montserrat Semi-Bold" charset="1" panose="00000700000000000000"/>
      <p:regular r:id="rId80"/>
    </p:embeddedFont>
    <p:embeddedFont>
      <p:font typeface="Montserrat Medium" charset="1" panose="00000600000000000000"/>
      <p:regular r:id="rId81"/>
    </p:embeddedFont>
    <p:embeddedFont>
      <p:font typeface="Montaser Arabic Bold" charset="1" panose="00000800000000000000"/>
      <p:regular r:id="rId82"/>
    </p:embeddedFont>
    <p:embeddedFont>
      <p:font typeface="Montaser Arabic" charset="1" panose="00000500000000000000"/>
      <p:regular r:id="rId83"/>
    </p:embeddedFont>
    <p:embeddedFont>
      <p:font typeface="Roboto Bold" charset="1" panose="02000000000000000000"/>
      <p:regular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73" Target="fonts/font73.fntdata" Type="http://schemas.openxmlformats.org/officeDocument/2006/relationships/font"/><Relationship Id="rId74" Target="fonts/font74.fntdata" Type="http://schemas.openxmlformats.org/officeDocument/2006/relationships/font"/><Relationship Id="rId75" Target="fonts/font75.fntdata" Type="http://schemas.openxmlformats.org/officeDocument/2006/relationships/font"/><Relationship Id="rId76" Target="fonts/font76.fntdata" Type="http://schemas.openxmlformats.org/officeDocument/2006/relationships/font"/><Relationship Id="rId77" Target="fonts/font77.fntdata" Type="http://schemas.openxmlformats.org/officeDocument/2006/relationships/font"/><Relationship Id="rId78" Target="fonts/font78.fntdata" Type="http://schemas.openxmlformats.org/officeDocument/2006/relationships/font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fonts/font80.fntdata" Type="http://schemas.openxmlformats.org/officeDocument/2006/relationships/font"/><Relationship Id="rId81" Target="fonts/font81.fntdata" Type="http://schemas.openxmlformats.org/officeDocument/2006/relationships/font"/><Relationship Id="rId82" Target="fonts/font82.fntdata" Type="http://schemas.openxmlformats.org/officeDocument/2006/relationships/font"/><Relationship Id="rId83" Target="fonts/font83.fntdata" Type="http://schemas.openxmlformats.org/officeDocument/2006/relationships/font"/><Relationship Id="rId84" Target="fonts/font84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1.pn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1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1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1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74.png" Type="http://schemas.openxmlformats.org/officeDocument/2006/relationships/image"/><Relationship Id="rId14" Target="../media/image87.png" Type="http://schemas.openxmlformats.org/officeDocument/2006/relationships/image"/><Relationship Id="rId2" Target="../media/image76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2" Target="../media/image93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103.png" Type="http://schemas.openxmlformats.org/officeDocument/2006/relationships/image"/><Relationship Id="rId4" Target="../media/image104.png" Type="http://schemas.openxmlformats.org/officeDocument/2006/relationships/image"/><Relationship Id="rId5" Target="../media/image1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8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9.png" Type="http://schemas.openxmlformats.org/officeDocument/2006/relationships/image"/><Relationship Id="rId4" Target="../media/image11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3.png" Type="http://schemas.openxmlformats.org/officeDocument/2006/relationships/image"/><Relationship Id="rId3" Target="../media/image1.png" Type="http://schemas.openxmlformats.org/officeDocument/2006/relationships/image"/><Relationship Id="rId4" Target="../media/image114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117.png" Type="http://schemas.openxmlformats.org/officeDocument/2006/relationships/image"/><Relationship Id="rId8" Target="../media/image11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9.png" Type="http://schemas.openxmlformats.org/officeDocument/2006/relationships/image"/><Relationship Id="rId4" Target="../media/image120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1.png" Type="http://schemas.openxmlformats.org/officeDocument/2006/relationships/image"/><Relationship Id="rId4" Target="../media/image122.png" Type="http://schemas.openxmlformats.org/officeDocument/2006/relationships/image"/><Relationship Id="rId5" Target="../media/image12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4.png" Type="http://schemas.openxmlformats.org/officeDocument/2006/relationships/image"/><Relationship Id="rId4" Target="../media/image125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7.png" Type="http://schemas.openxmlformats.org/officeDocument/2006/relationships/image"/><Relationship Id="rId4" Target="../media/image128.png" Type="http://schemas.openxmlformats.org/officeDocument/2006/relationships/image"/><Relationship Id="rId5" Target="../media/image129.png" Type="http://schemas.openxmlformats.org/officeDocument/2006/relationships/image"/><Relationship Id="rId6" Target="../media/image130.png" Type="http://schemas.openxmlformats.org/officeDocument/2006/relationships/image"/><Relationship Id="rId7" Target="../media/image131.png" Type="http://schemas.openxmlformats.org/officeDocument/2006/relationships/image"/><Relationship Id="rId8" Target="../media/image13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3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4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7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" cy="10287000"/>
            <a:chOff x="0" y="0"/>
            <a:chExt cx="152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68500" y="952500"/>
            <a:ext cx="2667000" cy="1714500"/>
          </a:xfrm>
          <a:custGeom>
            <a:avLst/>
            <a:gdLst/>
            <a:ahLst/>
            <a:cxnLst/>
            <a:rect r="r" b="b" t="t" l="l"/>
            <a:pathLst>
              <a:path h="1714500" w="2667000">
                <a:moveTo>
                  <a:pt x="0" y="0"/>
                </a:moveTo>
                <a:lnTo>
                  <a:pt x="2667000" y="0"/>
                </a:lnTo>
                <a:lnTo>
                  <a:pt x="26670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3200400"/>
            <a:ext cx="1333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300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DATA ANALYTICS &amp; BUSINESS INTELLIGENCE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3790973"/>
            <a:ext cx="14287500" cy="236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9000" b="true">
                <a:solidFill>
                  <a:srgbClr val="1A4A75"/>
                </a:solidFill>
                <a:latin typeface="Inter 1 Bold"/>
                <a:ea typeface="Inter 1 Bold"/>
                <a:cs typeface="Inter 1 Bold"/>
                <a:sym typeface="Inter 1 Bold"/>
              </a:rPr>
              <a:t>HOTEL BOOKING</a:t>
            </a:r>
          </a:p>
          <a:p>
            <a:pPr algn="l">
              <a:lnSpc>
                <a:spcPts val="9180"/>
              </a:lnSpc>
            </a:pPr>
            <a:r>
              <a:rPr lang="en-US" sz="9000" b="true">
                <a:solidFill>
                  <a:srgbClr val="1A4A75"/>
                </a:solidFill>
                <a:latin typeface="Inter 1 Bold"/>
                <a:ea typeface="Inter 1 Bold"/>
                <a:cs typeface="Inter 1 Bold"/>
                <a:sym typeface="Inter 1 Bold"/>
              </a:rPr>
              <a:t>ANALYSIS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6158842"/>
            <a:ext cx="762000" cy="38100"/>
            <a:chOff x="0" y="0"/>
            <a:chExt cx="1016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282690"/>
            <a:ext cx="13335000" cy="31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1849">
                <a:solidFill>
                  <a:srgbClr val="103C63"/>
                </a:solidFill>
                <a:latin typeface="Inter 1"/>
                <a:ea typeface="Inter 1"/>
                <a:cs typeface="Inter 1"/>
                <a:sym typeface="Inter 1"/>
              </a:rPr>
              <a:t>Revenue · Marketing · Cancellations · Customer Behavior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39000" y="7367628"/>
            <a:ext cx="3810000" cy="24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289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PRESENTED BY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67000" y="7711863"/>
            <a:ext cx="13335000" cy="83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299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Karima Saad  ·  Nourhan Wael  ·  Elsayed Elsawaf</a:t>
            </a:r>
          </a:p>
          <a:p>
            <a:pPr algn="ctr">
              <a:lnSpc>
                <a:spcPts val="3449"/>
              </a:lnSpc>
            </a:pPr>
            <a:r>
              <a:rPr lang="en-US" b="true" sz="2299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Walid Nofal  ·  Hana Mohamed  ·  Eman Elnahas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84708" y="2776725"/>
            <a:ext cx="5239206" cy="5586245"/>
          </a:xfrm>
          <a:custGeom>
            <a:avLst/>
            <a:gdLst/>
            <a:ahLst/>
            <a:cxnLst/>
            <a:rect r="r" b="b" t="t" l="l"/>
            <a:pathLst>
              <a:path h="5586245" w="5239206">
                <a:moveTo>
                  <a:pt x="0" y="0"/>
                </a:moveTo>
                <a:lnTo>
                  <a:pt x="5239206" y="0"/>
                </a:lnTo>
                <a:lnTo>
                  <a:pt x="523920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31464" y="6209369"/>
            <a:ext cx="10456536" cy="4077631"/>
          </a:xfrm>
          <a:custGeom>
            <a:avLst/>
            <a:gdLst/>
            <a:ahLst/>
            <a:cxnLst/>
            <a:rect r="r" b="b" t="t" l="l"/>
            <a:pathLst>
              <a:path h="4077631" w="10456536">
                <a:moveTo>
                  <a:pt x="0" y="0"/>
                </a:moveTo>
                <a:lnTo>
                  <a:pt x="10456536" y="0"/>
                </a:lnTo>
                <a:lnTo>
                  <a:pt x="1045653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086" y="888043"/>
            <a:ext cx="3342154" cy="1905534"/>
          </a:xfrm>
          <a:custGeom>
            <a:avLst/>
            <a:gdLst/>
            <a:ahLst/>
            <a:cxnLst/>
            <a:rect r="r" b="b" t="t" l="l"/>
            <a:pathLst>
              <a:path h="1905534" w="3342154">
                <a:moveTo>
                  <a:pt x="0" y="0"/>
                </a:moveTo>
                <a:lnTo>
                  <a:pt x="3342154" y="0"/>
                </a:lnTo>
                <a:lnTo>
                  <a:pt x="3342154" y="1905534"/>
                </a:lnTo>
                <a:lnTo>
                  <a:pt x="0" y="190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-20717" r="-12272" b="-2509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7952" y="1497682"/>
            <a:ext cx="885962" cy="218640"/>
          </a:xfrm>
          <a:custGeom>
            <a:avLst/>
            <a:gdLst/>
            <a:ahLst/>
            <a:cxnLst/>
            <a:rect r="r" b="b" t="t" l="l"/>
            <a:pathLst>
              <a:path h="218640" w="885962">
                <a:moveTo>
                  <a:pt x="0" y="0"/>
                </a:moveTo>
                <a:lnTo>
                  <a:pt x="885962" y="0"/>
                </a:lnTo>
                <a:lnTo>
                  <a:pt x="885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7824" y="3686270"/>
            <a:ext cx="11265408" cy="212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50"/>
              </a:lnSpc>
            </a:pPr>
            <a:r>
              <a:rPr lang="en-US" sz="12393" b="true">
                <a:solidFill>
                  <a:srgbClr val="003E6D"/>
                </a:solidFill>
                <a:latin typeface="Inter 2 Bold"/>
                <a:ea typeface="Inter 2 Bold"/>
                <a:cs typeface="Inter 2 Bold"/>
                <a:sym typeface="Inter 2 Bold"/>
              </a:rPr>
              <a:t>KARIMA SAAD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5783021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7552" y="6397751"/>
            <a:ext cx="10479024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003E6D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Project Overview · Data Source · Python Exploration + Cleaning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7707051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76622" y="7925691"/>
            <a:ext cx="218756" cy="863627"/>
          </a:xfrm>
          <a:custGeom>
            <a:avLst/>
            <a:gdLst/>
            <a:ahLst/>
            <a:cxnLst/>
            <a:rect r="r" b="b" t="t" l="l"/>
            <a:pathLst>
              <a:path h="863627" w="218756">
                <a:moveTo>
                  <a:pt x="0" y="0"/>
                </a:moveTo>
                <a:lnTo>
                  <a:pt x="218756" y="0"/>
                </a:lnTo>
                <a:lnTo>
                  <a:pt x="2187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42032" y="8158791"/>
            <a:ext cx="7808976" cy="41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406" i="true">
                <a:solidFill>
                  <a:srgbClr val="003E6D"/>
                </a:solidFill>
                <a:latin typeface="Inter 2 Italics"/>
                <a:ea typeface="Inter 2 Italics"/>
                <a:cs typeface="Inter 2 Italics"/>
                <a:sym typeface="Inter 2 Italics"/>
              </a:rPr>
              <a:t>From raw hotel bookings to an analysis-ready 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56864" y="800725"/>
            <a:ext cx="402336" cy="45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98"/>
              </a:lnSpc>
            </a:pPr>
            <a:r>
              <a:rPr lang="en-US" b="true" sz="2712">
                <a:solidFill>
                  <a:srgbClr val="7FC4F0"/>
                </a:solidFill>
                <a:latin typeface="Inter 2 Bold"/>
                <a:ea typeface="Inter 2 Bold"/>
                <a:cs typeface="Inter 2 Bold"/>
                <a:sym typeface="Inter 2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15232" y="786827"/>
            <a:ext cx="676656" cy="47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8"/>
              </a:lnSpc>
            </a:pPr>
            <a:r>
              <a:rPr lang="en-US" sz="2799">
                <a:solidFill>
                  <a:srgbClr val="003E6D"/>
                </a:solidFill>
                <a:latin typeface="Inter 2"/>
                <a:ea typeface="Inter 2"/>
                <a:cs typeface="Inter 2"/>
                <a:sym typeface="Inter 2"/>
              </a:rPr>
              <a:t>/ 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01 ·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Project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52500" y="1866900"/>
            <a:ext cx="133350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This project analyzes ~117,000 bookings across City Hotel and Resort Hotel (2015–2017) to surface revenue, marketing, cancellation, and customer behavior patterns.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2476500"/>
            <a:ext cx="3924300" cy="1238250"/>
            <a:chOff x="0" y="0"/>
            <a:chExt cx="5232400" cy="165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232400" cy="1651000"/>
              <a:chOff x="0" y="0"/>
              <a:chExt cx="5232400" cy="165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2324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232400">
                    <a:moveTo>
                      <a:pt x="18495" y="0"/>
                    </a:moveTo>
                    <a:lnTo>
                      <a:pt x="5213905" y="0"/>
                    </a:lnTo>
                    <a:cubicBezTo>
                      <a:pt x="5224119" y="0"/>
                      <a:pt x="5232400" y="8281"/>
                      <a:pt x="5232400" y="18495"/>
                    </a:cubicBezTo>
                    <a:lnTo>
                      <a:pt x="5232400" y="1632505"/>
                    </a:lnTo>
                    <a:cubicBezTo>
                      <a:pt x="5232400" y="1642719"/>
                      <a:pt x="5224119" y="1651000"/>
                      <a:pt x="5213905" y="1651000"/>
                    </a:cubicBezTo>
                    <a:lnTo>
                      <a:pt x="18495" y="1651000"/>
                    </a:lnTo>
                    <a:cubicBezTo>
                      <a:pt x="8281" y="1651000"/>
                      <a:pt x="0" y="1642719"/>
                      <a:pt x="0" y="1632505"/>
                    </a:cubicBezTo>
                    <a:lnTo>
                      <a:pt x="0" y="18495"/>
                    </a:lnTo>
                    <a:cubicBezTo>
                      <a:pt x="0" y="8281"/>
                      <a:pt x="8281" y="0"/>
                      <a:pt x="18495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2324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04800" y="212725"/>
              <a:ext cx="46228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117K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04800" y="1123950"/>
              <a:ext cx="46228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BOOKING RECORDS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05400" y="2476500"/>
            <a:ext cx="3924300" cy="1238250"/>
            <a:chOff x="0" y="0"/>
            <a:chExt cx="5232400" cy="1651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232400" cy="1651000"/>
              <a:chOff x="0" y="0"/>
              <a:chExt cx="5232400" cy="1651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2324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232400">
                    <a:moveTo>
                      <a:pt x="18495" y="0"/>
                    </a:moveTo>
                    <a:lnTo>
                      <a:pt x="5213905" y="0"/>
                    </a:lnTo>
                    <a:cubicBezTo>
                      <a:pt x="5224119" y="0"/>
                      <a:pt x="5232400" y="8281"/>
                      <a:pt x="5232400" y="18495"/>
                    </a:cubicBezTo>
                    <a:lnTo>
                      <a:pt x="5232400" y="1632505"/>
                    </a:lnTo>
                    <a:cubicBezTo>
                      <a:pt x="5232400" y="1642719"/>
                      <a:pt x="5224119" y="1651000"/>
                      <a:pt x="5213905" y="1651000"/>
                    </a:cubicBezTo>
                    <a:lnTo>
                      <a:pt x="18495" y="1651000"/>
                    </a:lnTo>
                    <a:cubicBezTo>
                      <a:pt x="8281" y="1651000"/>
                      <a:pt x="0" y="1642719"/>
                      <a:pt x="0" y="1632505"/>
                    </a:cubicBezTo>
                    <a:lnTo>
                      <a:pt x="0" y="18495"/>
                    </a:lnTo>
                    <a:cubicBezTo>
                      <a:pt x="0" y="8281"/>
                      <a:pt x="8281" y="0"/>
                      <a:pt x="18495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52324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4800" y="212725"/>
              <a:ext cx="4622800" cy="696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2015...2017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04800" y="1123950"/>
              <a:ext cx="46228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TIME WINDOW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58300" y="2476500"/>
            <a:ext cx="3924300" cy="1238250"/>
            <a:chOff x="0" y="0"/>
            <a:chExt cx="5232400" cy="1651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232400" cy="1651000"/>
              <a:chOff x="0" y="0"/>
              <a:chExt cx="5232400" cy="1651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2324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232400">
                    <a:moveTo>
                      <a:pt x="18495" y="0"/>
                    </a:moveTo>
                    <a:lnTo>
                      <a:pt x="5213905" y="0"/>
                    </a:lnTo>
                    <a:cubicBezTo>
                      <a:pt x="5224119" y="0"/>
                      <a:pt x="5232400" y="8281"/>
                      <a:pt x="5232400" y="18495"/>
                    </a:cubicBezTo>
                    <a:lnTo>
                      <a:pt x="5232400" y="1632505"/>
                    </a:lnTo>
                    <a:cubicBezTo>
                      <a:pt x="5232400" y="1642719"/>
                      <a:pt x="5224119" y="1651000"/>
                      <a:pt x="5213905" y="1651000"/>
                    </a:cubicBezTo>
                    <a:lnTo>
                      <a:pt x="18495" y="1651000"/>
                    </a:lnTo>
                    <a:cubicBezTo>
                      <a:pt x="8281" y="1651000"/>
                      <a:pt x="0" y="1642719"/>
                      <a:pt x="0" y="1632505"/>
                    </a:cubicBezTo>
                    <a:lnTo>
                      <a:pt x="0" y="18495"/>
                    </a:lnTo>
                    <a:cubicBezTo>
                      <a:pt x="0" y="8281"/>
                      <a:pt x="8281" y="0"/>
                      <a:pt x="18495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2324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04800" y="212725"/>
              <a:ext cx="46228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2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04800" y="1123950"/>
              <a:ext cx="46228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HOTEL PROPERTIES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411200" y="2476500"/>
            <a:ext cx="3924300" cy="1238250"/>
            <a:chOff x="0" y="0"/>
            <a:chExt cx="5232400" cy="1651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232400" cy="1651000"/>
              <a:chOff x="0" y="0"/>
              <a:chExt cx="5232400" cy="1651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2324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232400">
                    <a:moveTo>
                      <a:pt x="18495" y="0"/>
                    </a:moveTo>
                    <a:lnTo>
                      <a:pt x="5213905" y="0"/>
                    </a:lnTo>
                    <a:cubicBezTo>
                      <a:pt x="5224119" y="0"/>
                      <a:pt x="5232400" y="8281"/>
                      <a:pt x="5232400" y="18495"/>
                    </a:cubicBezTo>
                    <a:lnTo>
                      <a:pt x="5232400" y="1632505"/>
                    </a:lnTo>
                    <a:cubicBezTo>
                      <a:pt x="5232400" y="1642719"/>
                      <a:pt x="5224119" y="1651000"/>
                      <a:pt x="5213905" y="1651000"/>
                    </a:cubicBezTo>
                    <a:lnTo>
                      <a:pt x="18495" y="1651000"/>
                    </a:lnTo>
                    <a:cubicBezTo>
                      <a:pt x="8281" y="1651000"/>
                      <a:pt x="0" y="1642719"/>
                      <a:pt x="0" y="1632505"/>
                    </a:cubicBezTo>
                    <a:lnTo>
                      <a:pt x="0" y="18495"/>
                    </a:lnTo>
                    <a:cubicBezTo>
                      <a:pt x="0" y="8281"/>
                      <a:pt x="8281" y="0"/>
                      <a:pt x="18495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52324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04800" y="212725"/>
              <a:ext cx="46228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36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04800" y="1123950"/>
              <a:ext cx="46228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FIELDS PER BOOKING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52500" y="4076700"/>
            <a:ext cx="476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ANALYSIS PILLARS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2500" y="4371975"/>
            <a:ext cx="15240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 Analysis  ·  Booking Analysis  ·  Cancellation Analysis  ·  Marketing Analysis  ·  Customer Behavior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2500" y="5314950"/>
            <a:ext cx="476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END-TO-END PIPELINE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52500" y="5905500"/>
            <a:ext cx="2177143" cy="857250"/>
            <a:chOff x="0" y="0"/>
            <a:chExt cx="2902857" cy="1143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03C63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Data Source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3148693" y="6334125"/>
            <a:ext cx="15240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3320143" y="5905500"/>
            <a:ext cx="2177143" cy="857250"/>
            <a:chOff x="0" y="0"/>
            <a:chExt cx="2902857" cy="1143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Python</a:t>
              </a:r>
            </a:p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Exploration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5516336" y="6334125"/>
            <a:ext cx="15240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5687786" y="5905500"/>
            <a:ext cx="2177143" cy="857250"/>
            <a:chOff x="0" y="0"/>
            <a:chExt cx="2902857" cy="1143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Data</a:t>
              </a:r>
            </a:p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Cleaning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7883979" y="6334125"/>
            <a:ext cx="15240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8055429" y="5905500"/>
            <a:ext cx="2177143" cy="857250"/>
            <a:chOff x="0" y="0"/>
            <a:chExt cx="2902857" cy="1143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Feature</a:t>
              </a:r>
            </a:p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Engineering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>
            <a:off x="10251621" y="6334125"/>
            <a:ext cx="15240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0423071" y="5905500"/>
            <a:ext cx="2177143" cy="857250"/>
            <a:chOff x="0" y="0"/>
            <a:chExt cx="2902857" cy="1143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SQL</a:t>
              </a:r>
            </a:p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Analysis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>
            <a:off x="12619264" y="6334125"/>
            <a:ext cx="15240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2790714" y="5905500"/>
            <a:ext cx="2177143" cy="857250"/>
            <a:chOff x="0" y="0"/>
            <a:chExt cx="2902857" cy="1143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Dashboards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>
            <a:off x="14986907" y="6334125"/>
            <a:ext cx="15240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2" id="72"/>
          <p:cNvGrpSpPr/>
          <p:nvPr/>
        </p:nvGrpSpPr>
        <p:grpSpPr>
          <a:xfrm rot="0">
            <a:off x="15158357" y="5905500"/>
            <a:ext cx="2177143" cy="857250"/>
            <a:chOff x="0" y="0"/>
            <a:chExt cx="2902857" cy="1143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02857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02857">
                  <a:moveTo>
                    <a:pt x="44450" y="0"/>
                  </a:moveTo>
                  <a:lnTo>
                    <a:pt x="2858407" y="0"/>
                  </a:lnTo>
                  <a:cubicBezTo>
                    <a:pt x="2882956" y="0"/>
                    <a:pt x="2902857" y="19901"/>
                    <a:pt x="2902857" y="44450"/>
                  </a:cubicBezTo>
                  <a:lnTo>
                    <a:pt x="2902857" y="1098550"/>
                  </a:lnTo>
                  <a:cubicBezTo>
                    <a:pt x="2902857" y="1110339"/>
                    <a:pt x="2898174" y="1121645"/>
                    <a:pt x="2889838" y="1129981"/>
                  </a:cubicBezTo>
                  <a:cubicBezTo>
                    <a:pt x="2881502" y="1138317"/>
                    <a:pt x="2870196" y="1143000"/>
                    <a:pt x="2858407" y="1143000"/>
                  </a:cubicBezTo>
                  <a:lnTo>
                    <a:pt x="44450" y="1143000"/>
                  </a:lnTo>
                  <a:cubicBezTo>
                    <a:pt x="19901" y="1143000"/>
                    <a:pt x="0" y="1123099"/>
                    <a:pt x="0" y="1098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03C63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902857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Business</a:t>
              </a:r>
            </a:p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Insights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02 ·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Data Source &amp; Dataset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857500"/>
            <a:ext cx="3238500" cy="4381500"/>
            <a:chOff x="0" y="0"/>
            <a:chExt cx="4318000" cy="584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318000">
                  <a:moveTo>
                    <a:pt x="29882" y="0"/>
                  </a:moveTo>
                  <a:lnTo>
                    <a:pt x="4288118" y="0"/>
                  </a:lnTo>
                  <a:cubicBezTo>
                    <a:pt x="4304621" y="0"/>
                    <a:pt x="4318000" y="13379"/>
                    <a:pt x="4318000" y="29882"/>
                  </a:cubicBezTo>
                  <a:lnTo>
                    <a:pt x="4318000" y="5812118"/>
                  </a:lnTo>
                  <a:cubicBezTo>
                    <a:pt x="4318000" y="5828621"/>
                    <a:pt x="4304621" y="5842000"/>
                    <a:pt x="4288118" y="5842000"/>
                  </a:cubicBezTo>
                  <a:lnTo>
                    <a:pt x="29882" y="5842000"/>
                  </a:lnTo>
                  <a:cubicBezTo>
                    <a:pt x="13379" y="5842000"/>
                    <a:pt x="0" y="5828621"/>
                    <a:pt x="0" y="5812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180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857500"/>
            <a:ext cx="3238500" cy="57150"/>
            <a:chOff x="0" y="0"/>
            <a:chExt cx="43180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81500" y="2857500"/>
            <a:ext cx="3238500" cy="4381500"/>
            <a:chOff x="0" y="0"/>
            <a:chExt cx="4318000" cy="584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8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318000">
                  <a:moveTo>
                    <a:pt x="29882" y="0"/>
                  </a:moveTo>
                  <a:lnTo>
                    <a:pt x="4288118" y="0"/>
                  </a:lnTo>
                  <a:cubicBezTo>
                    <a:pt x="4304621" y="0"/>
                    <a:pt x="4318000" y="13379"/>
                    <a:pt x="4318000" y="29882"/>
                  </a:cubicBezTo>
                  <a:lnTo>
                    <a:pt x="4318000" y="5812118"/>
                  </a:lnTo>
                  <a:cubicBezTo>
                    <a:pt x="4318000" y="5828621"/>
                    <a:pt x="4304621" y="5842000"/>
                    <a:pt x="4288118" y="5842000"/>
                  </a:cubicBezTo>
                  <a:lnTo>
                    <a:pt x="29882" y="5842000"/>
                  </a:lnTo>
                  <a:cubicBezTo>
                    <a:pt x="13379" y="5842000"/>
                    <a:pt x="0" y="5828621"/>
                    <a:pt x="0" y="5812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180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81500" y="2857500"/>
            <a:ext cx="3238500" cy="57150"/>
            <a:chOff x="0" y="0"/>
            <a:chExt cx="43180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10500" y="2857500"/>
            <a:ext cx="3238500" cy="4381500"/>
            <a:chOff x="0" y="0"/>
            <a:chExt cx="4318000" cy="584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18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318000">
                  <a:moveTo>
                    <a:pt x="29882" y="0"/>
                  </a:moveTo>
                  <a:lnTo>
                    <a:pt x="4288118" y="0"/>
                  </a:lnTo>
                  <a:cubicBezTo>
                    <a:pt x="4304621" y="0"/>
                    <a:pt x="4318000" y="13379"/>
                    <a:pt x="4318000" y="29882"/>
                  </a:cubicBezTo>
                  <a:lnTo>
                    <a:pt x="4318000" y="5812118"/>
                  </a:lnTo>
                  <a:cubicBezTo>
                    <a:pt x="4318000" y="5828621"/>
                    <a:pt x="4304621" y="5842000"/>
                    <a:pt x="4288118" y="5842000"/>
                  </a:cubicBezTo>
                  <a:lnTo>
                    <a:pt x="29882" y="5842000"/>
                  </a:lnTo>
                  <a:cubicBezTo>
                    <a:pt x="13379" y="5842000"/>
                    <a:pt x="0" y="5828621"/>
                    <a:pt x="0" y="5812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180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10500" y="2857500"/>
            <a:ext cx="3238500" cy="57150"/>
            <a:chOff x="0" y="0"/>
            <a:chExt cx="43180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39500" y="2857500"/>
            <a:ext cx="3238500" cy="4381500"/>
            <a:chOff x="0" y="0"/>
            <a:chExt cx="4318000" cy="584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18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318000">
                  <a:moveTo>
                    <a:pt x="29882" y="0"/>
                  </a:moveTo>
                  <a:lnTo>
                    <a:pt x="4288118" y="0"/>
                  </a:lnTo>
                  <a:cubicBezTo>
                    <a:pt x="4304621" y="0"/>
                    <a:pt x="4318000" y="13379"/>
                    <a:pt x="4318000" y="29882"/>
                  </a:cubicBezTo>
                  <a:lnTo>
                    <a:pt x="4318000" y="5812118"/>
                  </a:lnTo>
                  <a:cubicBezTo>
                    <a:pt x="4318000" y="5828621"/>
                    <a:pt x="4304621" y="5842000"/>
                    <a:pt x="4288118" y="5842000"/>
                  </a:cubicBezTo>
                  <a:lnTo>
                    <a:pt x="29882" y="5842000"/>
                  </a:lnTo>
                  <a:cubicBezTo>
                    <a:pt x="13379" y="5842000"/>
                    <a:pt x="0" y="5828621"/>
                    <a:pt x="0" y="5812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3180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39500" y="2857500"/>
            <a:ext cx="3238500" cy="57150"/>
            <a:chOff x="0" y="0"/>
            <a:chExt cx="4318000" cy="76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68500" y="2857500"/>
            <a:ext cx="3238500" cy="4381500"/>
            <a:chOff x="0" y="0"/>
            <a:chExt cx="4318000" cy="584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18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318000">
                  <a:moveTo>
                    <a:pt x="29882" y="0"/>
                  </a:moveTo>
                  <a:lnTo>
                    <a:pt x="4288118" y="0"/>
                  </a:lnTo>
                  <a:cubicBezTo>
                    <a:pt x="4304621" y="0"/>
                    <a:pt x="4318000" y="13379"/>
                    <a:pt x="4318000" y="29882"/>
                  </a:cubicBezTo>
                  <a:lnTo>
                    <a:pt x="4318000" y="5812118"/>
                  </a:lnTo>
                  <a:cubicBezTo>
                    <a:pt x="4318000" y="5828621"/>
                    <a:pt x="4304621" y="5842000"/>
                    <a:pt x="4288118" y="5842000"/>
                  </a:cubicBezTo>
                  <a:lnTo>
                    <a:pt x="29882" y="5842000"/>
                  </a:lnTo>
                  <a:cubicBezTo>
                    <a:pt x="13379" y="5842000"/>
                    <a:pt x="0" y="5828621"/>
                    <a:pt x="0" y="5812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3180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68500" y="2857500"/>
            <a:ext cx="3238500" cy="57150"/>
            <a:chOff x="0" y="0"/>
            <a:chExt cx="4318000" cy="7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52500" y="1866900"/>
            <a:ext cx="142875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Two CSV artifacts anchor the project: the raw hotel_booking.csv and the cleaned hotel_bookings_cleaned.csv. Together they hold ~117,000 records with 36 fields each, grouped below by analytic domain.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1100" y="3105150"/>
            <a:ext cx="2781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Stay Details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1100" y="3657600"/>
            <a:ext cx="2781300" cy="130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lead_time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arrival_date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weekend_nights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week_nights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room_type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10100" y="3105150"/>
            <a:ext cx="2781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Guest Details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10100" y="3657600"/>
            <a:ext cx="2781300" cy="130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adults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children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babies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country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repeat_guest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39100" y="3105150"/>
            <a:ext cx="2781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Booking / Marketing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39100" y="3657600"/>
            <a:ext cx="2781300" cy="104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market_segment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distribution_channel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deposit_type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booking_changes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68100" y="3105150"/>
            <a:ext cx="2781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Financial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68100" y="3657600"/>
            <a:ext cx="2781300" cy="104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ADR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agent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company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special_requests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97100" y="3105150"/>
            <a:ext cx="2781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Outcome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897100" y="3657600"/>
            <a:ext cx="27813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is_canceled</a:t>
            </a:r>
          </a:p>
          <a:p>
            <a:pPr algn="l">
              <a:lnSpc>
                <a:spcPts val="2167"/>
              </a:lnSpc>
            </a:pPr>
            <a:r>
              <a:rPr lang="en-US" sz="1275">
                <a:solidFill>
                  <a:srgbClr val="1F23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reservation_status_date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03 ·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Data Exploration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8572500" cy="4572000"/>
            <a:chOff x="0" y="0"/>
            <a:chExt cx="11430000" cy="609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1430000">
                  <a:moveTo>
                    <a:pt x="11289" y="0"/>
                  </a:moveTo>
                  <a:lnTo>
                    <a:pt x="11418711" y="0"/>
                  </a:lnTo>
                  <a:cubicBezTo>
                    <a:pt x="11424946" y="0"/>
                    <a:pt x="11430000" y="5054"/>
                    <a:pt x="11430000" y="11289"/>
                  </a:cubicBezTo>
                  <a:lnTo>
                    <a:pt x="11430000" y="6084711"/>
                  </a:lnTo>
                  <a:cubicBezTo>
                    <a:pt x="11430000" y="6090946"/>
                    <a:pt x="11424946" y="6096000"/>
                    <a:pt x="11418711" y="6096000"/>
                  </a:cubicBezTo>
                  <a:lnTo>
                    <a:pt x="11289" y="6096000"/>
                  </a:lnTo>
                  <a:cubicBezTo>
                    <a:pt x="5054" y="6096000"/>
                    <a:pt x="0" y="6090946"/>
                    <a:pt x="0" y="6084711"/>
                  </a:cubicBezTo>
                  <a:lnTo>
                    <a:pt x="0" y="11289"/>
                  </a:lnTo>
                  <a:cubicBezTo>
                    <a:pt x="0" y="5054"/>
                    <a:pt x="5054" y="0"/>
                    <a:pt x="11289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430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428875"/>
            <a:ext cx="8115300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pandas as pd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numpy as np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matplotlib.pyplot as plt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seaborn as sns</a:t>
            </a:r>
          </a:p>
          <a:p>
            <a:pPr algn="l">
              <a:lnSpc>
                <a:spcPts val="1860"/>
              </a:lnSpc>
            </a:pP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 = pd.read_csv('hotel_booking.csv')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df.head()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df.tail()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df.shape        # (119390, 36)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df.info()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df.describe()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287000" y="3162300"/>
            <a:ext cx="7048500" cy="0"/>
          </a:xfrm>
          <a:prstGeom prst="line">
            <a:avLst/>
          </a:prstGeom>
          <a:ln cap="flat" w="9525">
            <a:solidFill>
              <a:srgbClr val="D1D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287000" y="3943350"/>
            <a:ext cx="7048500" cy="0"/>
          </a:xfrm>
          <a:prstGeom prst="line">
            <a:avLst/>
          </a:prstGeom>
          <a:ln cap="flat" w="9525">
            <a:solidFill>
              <a:srgbClr val="D1D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287000" y="4724400"/>
            <a:ext cx="7048500" cy="0"/>
          </a:xfrm>
          <a:prstGeom prst="line">
            <a:avLst/>
          </a:prstGeom>
          <a:ln cap="flat" w="9525">
            <a:solidFill>
              <a:srgbClr val="D1D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287000" y="5505450"/>
            <a:ext cx="7048500" cy="0"/>
          </a:xfrm>
          <a:prstGeom prst="line">
            <a:avLst/>
          </a:prstGeom>
          <a:ln cap="flat" w="9525">
            <a:solidFill>
              <a:srgbClr val="D1D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0" y="245745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read_csv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82500" y="2466975"/>
            <a:ext cx="4953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Load the raw booking CSV into a DataFrame.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0" y="323850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head / tail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2500" y="3248025"/>
            <a:ext cx="4953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Inspect first and last rows for structure.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0" y="401955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shape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82500" y="4029075"/>
            <a:ext cx="4953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Confirm record and column counts.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0" y="480060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info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2500" y="4810125"/>
            <a:ext cx="4953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Data types and non-null counts per column.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0" y="558165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describe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82500" y="5591175"/>
            <a:ext cx="4953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Summary statistics for numeric fields.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04 ·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Data Cleaning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095500"/>
            <a:ext cx="9334500" cy="6096000"/>
            <a:chOff x="0" y="0"/>
            <a:chExt cx="12446000" cy="812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460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12446000">
                  <a:moveTo>
                    <a:pt x="10367" y="0"/>
                  </a:moveTo>
                  <a:lnTo>
                    <a:pt x="12435632" y="0"/>
                  </a:lnTo>
                  <a:cubicBezTo>
                    <a:pt x="12438382" y="0"/>
                    <a:pt x="12441019" y="1092"/>
                    <a:pt x="12442964" y="3037"/>
                  </a:cubicBezTo>
                  <a:cubicBezTo>
                    <a:pt x="12444908" y="4981"/>
                    <a:pt x="12446000" y="7618"/>
                    <a:pt x="12446000" y="10367"/>
                  </a:cubicBezTo>
                  <a:lnTo>
                    <a:pt x="12446000" y="8117632"/>
                  </a:lnTo>
                  <a:cubicBezTo>
                    <a:pt x="12446000" y="8120382"/>
                    <a:pt x="12444908" y="8123019"/>
                    <a:pt x="12442964" y="8124964"/>
                  </a:cubicBezTo>
                  <a:cubicBezTo>
                    <a:pt x="12441019" y="8126908"/>
                    <a:pt x="12438382" y="8128000"/>
                    <a:pt x="12435632" y="8128000"/>
                  </a:cubicBezTo>
                  <a:lnTo>
                    <a:pt x="10367" y="8128000"/>
                  </a:lnTo>
                  <a:cubicBezTo>
                    <a:pt x="7618" y="8128000"/>
                    <a:pt x="4981" y="8126908"/>
                    <a:pt x="3037" y="8124964"/>
                  </a:cubicBezTo>
                  <a:cubicBezTo>
                    <a:pt x="1092" y="8123019"/>
                    <a:pt x="0" y="8120382"/>
                    <a:pt x="0" y="8117632"/>
                  </a:cubicBezTo>
                  <a:lnTo>
                    <a:pt x="0" y="10367"/>
                  </a:lnTo>
                  <a:cubicBezTo>
                    <a:pt x="0" y="7618"/>
                    <a:pt x="1092" y="4981"/>
                    <a:pt x="3037" y="3037"/>
                  </a:cubicBezTo>
                  <a:cubicBezTo>
                    <a:pt x="4981" y="1092"/>
                    <a:pt x="7618" y="0"/>
                    <a:pt x="10367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446000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238375"/>
            <a:ext cx="8877300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df.duplicated().sum()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df.isnull().sum()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df.drop(columns=['company'], inplace=True)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df['agent'] = df['agent'].fillna(0).astype(int)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df['country'] = df['country'].fillna('Unknown')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df['children'] = df['children'].fillna(0).astype(int)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df.drop(columns=['name','email',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'phone-number','credit_card'],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inplace=True)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df['reservation_status_date'] = pd.to_datetime(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df['reservation_status_date'])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 = df[(df['adults']+df['children']+df['babies'])&gt;0]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 = df[(df['adr']&gt;0) &amp; (df['adr']&lt;5000)]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df.reset_index(drop=True, inplace=True)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8500" y="217170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4750" y="217170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Check duplicates &amp; missing values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58500" y="260985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34750" y="260985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Drop 'company' (excessive nulls)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58500" y="304800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34750" y="304800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Fill 'agent' with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58500" y="348615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34750" y="348615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Fill 'country' with 'Unknown'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58500" y="392430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34750" y="392430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Fill 'children' with 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58500" y="436245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4750" y="436245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Drop PII: name, email, phone, credit_card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58500" y="480060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34750" y="480060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Cast 'children' &amp; 'agent' to int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58500" y="523875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34750" y="523875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Parse 'reservation_status_date' → datetime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58500" y="567690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34750" y="567690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Remove zero-guest rows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58500" y="611505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34750" y="611505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Filter ADR ∈ (0, 5000)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58500" y="6553200"/>
            <a:ext cx="38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34750" y="6553200"/>
            <a:ext cx="6096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Reset index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05 ·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Feature Engineering &amp; EDA Visualizations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880394" y="5223943"/>
            <a:ext cx="5297306" cy="49719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2624" y="1274359"/>
            <a:ext cx="4972847" cy="4409037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13356" y="5033979"/>
            <a:ext cx="10046773" cy="4896189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321836" y="9916290"/>
            <a:ext cx="5537414" cy="26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516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Cancellations run ~37.5% of all bookings.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875" y="9159612"/>
            <a:ext cx="8763000" cy="20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Longer lead times correlate with higher cancellation risk.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2405744"/>
            <a:ext cx="3326952" cy="30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804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total_stay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80850" y="2437448"/>
            <a:ext cx="4435936" cy="2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42">
                <a:solidFill>
                  <a:srgbClr val="656D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weekend_nights + week_nights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3071134"/>
            <a:ext cx="3326952" cy="30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804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total_guests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80850" y="3102839"/>
            <a:ext cx="4435936" cy="2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42">
                <a:solidFill>
                  <a:srgbClr val="656D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adults + children + babies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3736524"/>
            <a:ext cx="3326952" cy="30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804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reservation_year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80850" y="3768229"/>
            <a:ext cx="4435936" cy="5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42">
                <a:solidFill>
                  <a:srgbClr val="656D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extracted from reservation_status_date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4401915"/>
            <a:ext cx="3326952" cy="30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804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reservation_month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80850" y="4433619"/>
            <a:ext cx="4435936" cy="5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42">
                <a:solidFill>
                  <a:srgbClr val="656D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extracted from reservation_status_date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000" y="5067305"/>
            <a:ext cx="3326952" cy="30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804" b="true">
                <a:solidFill>
                  <a:srgbClr val="103C6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room_type_changed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80850" y="5099010"/>
            <a:ext cx="4435936" cy="2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42">
                <a:solidFill>
                  <a:srgbClr val="656D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reserved != assigned room type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1971675"/>
            <a:ext cx="5544919" cy="24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</a:pPr>
            <a:r>
              <a:rPr lang="en-US" sz="1455" spc="291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NEW FEATURES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2500" y="9711843"/>
            <a:ext cx="16383000" cy="9525"/>
            <a:chOff x="0" y="0"/>
            <a:chExt cx="21844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2500" y="9835668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83000" y="9835668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0574" y="2350377"/>
            <a:ext cx="8717426" cy="6865288"/>
          </a:xfrm>
          <a:custGeom>
            <a:avLst/>
            <a:gdLst/>
            <a:ahLst/>
            <a:cxnLst/>
            <a:rect r="r" b="b" t="t" l="l"/>
            <a:pathLst>
              <a:path h="6865288" w="8717426">
                <a:moveTo>
                  <a:pt x="0" y="0"/>
                </a:moveTo>
                <a:lnTo>
                  <a:pt x="8717426" y="0"/>
                </a:lnTo>
                <a:lnTo>
                  <a:pt x="8717426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23373"/>
            <a:ext cx="13716000" cy="863627"/>
          </a:xfrm>
          <a:custGeom>
            <a:avLst/>
            <a:gdLst/>
            <a:ahLst/>
            <a:cxnLst/>
            <a:rect r="r" b="b" t="t" l="l"/>
            <a:pathLst>
              <a:path h="863627" w="13716000">
                <a:moveTo>
                  <a:pt x="0" y="0"/>
                </a:moveTo>
                <a:lnTo>
                  <a:pt x="13716000" y="0"/>
                </a:lnTo>
                <a:lnTo>
                  <a:pt x="13716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22220" y="9423373"/>
            <a:ext cx="5665780" cy="863627"/>
          </a:xfrm>
          <a:custGeom>
            <a:avLst/>
            <a:gdLst/>
            <a:ahLst/>
            <a:cxnLst/>
            <a:rect r="r" b="b" t="t" l="l"/>
            <a:pathLst>
              <a:path h="863627" w="5665780">
                <a:moveTo>
                  <a:pt x="0" y="0"/>
                </a:moveTo>
                <a:lnTo>
                  <a:pt x="5665780" y="0"/>
                </a:lnTo>
                <a:lnTo>
                  <a:pt x="5665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623011"/>
            <a:ext cx="4582938" cy="2612969"/>
          </a:xfrm>
          <a:custGeom>
            <a:avLst/>
            <a:gdLst/>
            <a:ahLst/>
            <a:cxnLst/>
            <a:rect r="r" b="b" t="t" l="l"/>
            <a:pathLst>
              <a:path h="2612969" w="4582938">
                <a:moveTo>
                  <a:pt x="0" y="0"/>
                </a:moveTo>
                <a:lnTo>
                  <a:pt x="4582938" y="0"/>
                </a:lnTo>
                <a:lnTo>
                  <a:pt x="4582938" y="2612969"/>
                </a:lnTo>
                <a:lnTo>
                  <a:pt x="0" y="261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00" t="-20717" r="-12272" b="-250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096" y="3862430"/>
            <a:ext cx="11667744" cy="244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4"/>
              </a:lnSpc>
            </a:pPr>
            <a:r>
              <a:rPr lang="en-US" sz="14231" b="true">
                <a:solidFill>
                  <a:srgbClr val="0D2A44"/>
                </a:solidFill>
                <a:latin typeface="Oswald Bold"/>
                <a:ea typeface="Oswald Bold"/>
                <a:cs typeface="Oswald Bold"/>
                <a:sym typeface="Oswald Bold"/>
              </a:rPr>
              <a:t>NOURHAN WAEL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6209369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1248" y="6523263"/>
            <a:ext cx="9912096" cy="59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6"/>
              </a:lnSpc>
            </a:pPr>
            <a:r>
              <a:rPr lang="en-US" sz="3562" b="true">
                <a:solidFill>
                  <a:srgbClr val="145285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SQL Query 1 • Revenue Analysis + Dashboard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7499343"/>
            <a:ext cx="1542230" cy="1508614"/>
          </a:xfrm>
          <a:custGeom>
            <a:avLst/>
            <a:gdLst/>
            <a:ahLst/>
            <a:cxnLst/>
            <a:rect r="r" b="b" t="t" l="l"/>
            <a:pathLst>
              <a:path h="1508614" w="1542230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84440" y="7499343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90672" y="7825606"/>
            <a:ext cx="4937760" cy="99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3062">
                <a:solidFill>
                  <a:srgbClr val="0D2A44"/>
                </a:solidFill>
                <a:latin typeface="Inter 2"/>
                <a:ea typeface="Inter 2"/>
                <a:cs typeface="Inter 2"/>
                <a:sym typeface="Inter 2"/>
              </a:rPr>
              <a:t>From cleaned bookings to realized and lost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05504" y="843720"/>
            <a:ext cx="1005840" cy="38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49"/>
              </a:lnSpc>
            </a:pPr>
            <a:r>
              <a:rPr lang="en-US" b="true" sz="2250">
                <a:solidFill>
                  <a:srgbClr val="145285"/>
                </a:solidFill>
                <a:latin typeface="Inter 2 Bold"/>
                <a:ea typeface="Inter 2 Bold"/>
                <a:cs typeface="Inter 2 Bold"/>
                <a:sym typeface="Inter 2 Bold"/>
              </a:rPr>
              <a:t>02 / 06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537952" y="1279043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06 · 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SQL Analysis Workflow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3238500"/>
            <a:ext cx="3048000" cy="952500"/>
            <a:chOff x="0" y="0"/>
            <a:chExt cx="4064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064000">
                  <a:moveTo>
                    <a:pt x="31750" y="0"/>
                  </a:moveTo>
                  <a:lnTo>
                    <a:pt x="4032250" y="0"/>
                  </a:lnTo>
                  <a:cubicBezTo>
                    <a:pt x="4049785" y="0"/>
                    <a:pt x="4064000" y="14215"/>
                    <a:pt x="4064000" y="31750"/>
                  </a:cubicBezTo>
                  <a:lnTo>
                    <a:pt x="4064000" y="1238250"/>
                  </a:lnTo>
                  <a:cubicBezTo>
                    <a:pt x="4064000" y="1255785"/>
                    <a:pt x="4049785" y="1270000"/>
                    <a:pt x="4032250" y="1270000"/>
                  </a:cubicBezTo>
                  <a:lnTo>
                    <a:pt x="31750" y="1270000"/>
                  </a:lnTo>
                  <a:cubicBezTo>
                    <a:pt x="14215" y="1270000"/>
                    <a:pt x="0" y="1255785"/>
                    <a:pt x="0" y="1238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103C63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064000" cy="128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Cleaned Data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038600" y="3714750"/>
            <a:ext cx="20955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286250" y="3238500"/>
            <a:ext cx="3048000" cy="952500"/>
            <a:chOff x="0" y="0"/>
            <a:chExt cx="4064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064000">
                  <a:moveTo>
                    <a:pt x="31750" y="0"/>
                  </a:moveTo>
                  <a:lnTo>
                    <a:pt x="4032250" y="0"/>
                  </a:lnTo>
                  <a:cubicBezTo>
                    <a:pt x="4049785" y="0"/>
                    <a:pt x="4064000" y="14215"/>
                    <a:pt x="4064000" y="31750"/>
                  </a:cubicBezTo>
                  <a:lnTo>
                    <a:pt x="4064000" y="1238250"/>
                  </a:lnTo>
                  <a:cubicBezTo>
                    <a:pt x="4064000" y="1255785"/>
                    <a:pt x="4049785" y="1270000"/>
                    <a:pt x="4032250" y="1270000"/>
                  </a:cubicBezTo>
                  <a:lnTo>
                    <a:pt x="31750" y="1270000"/>
                  </a:lnTo>
                  <a:cubicBezTo>
                    <a:pt x="14215" y="1270000"/>
                    <a:pt x="0" y="1255785"/>
                    <a:pt x="0" y="1238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064000" cy="128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SQL Queries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372350" y="3714750"/>
            <a:ext cx="20955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620000" y="3238500"/>
            <a:ext cx="3048000" cy="952500"/>
            <a:chOff x="0" y="0"/>
            <a:chExt cx="4064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064000">
                  <a:moveTo>
                    <a:pt x="31750" y="0"/>
                  </a:moveTo>
                  <a:lnTo>
                    <a:pt x="4032250" y="0"/>
                  </a:lnTo>
                  <a:cubicBezTo>
                    <a:pt x="4049785" y="0"/>
                    <a:pt x="4064000" y="14215"/>
                    <a:pt x="4064000" y="31750"/>
                  </a:cubicBezTo>
                  <a:lnTo>
                    <a:pt x="4064000" y="1238250"/>
                  </a:lnTo>
                  <a:cubicBezTo>
                    <a:pt x="4064000" y="1255785"/>
                    <a:pt x="4049785" y="1270000"/>
                    <a:pt x="4032250" y="1270000"/>
                  </a:cubicBezTo>
                  <a:lnTo>
                    <a:pt x="31750" y="1270000"/>
                  </a:lnTo>
                  <a:cubicBezTo>
                    <a:pt x="14215" y="1270000"/>
                    <a:pt x="0" y="1255785"/>
                    <a:pt x="0" y="1238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064000" cy="128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Business Metrics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706100" y="3714750"/>
            <a:ext cx="20955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953750" y="3238500"/>
            <a:ext cx="3048000" cy="952500"/>
            <a:chOff x="0" y="0"/>
            <a:chExt cx="4064000" cy="127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064000">
                  <a:moveTo>
                    <a:pt x="31750" y="0"/>
                  </a:moveTo>
                  <a:lnTo>
                    <a:pt x="4032250" y="0"/>
                  </a:lnTo>
                  <a:cubicBezTo>
                    <a:pt x="4049785" y="0"/>
                    <a:pt x="4064000" y="14215"/>
                    <a:pt x="4064000" y="31750"/>
                  </a:cubicBezTo>
                  <a:lnTo>
                    <a:pt x="4064000" y="1238250"/>
                  </a:lnTo>
                  <a:cubicBezTo>
                    <a:pt x="4064000" y="1255785"/>
                    <a:pt x="4049785" y="1270000"/>
                    <a:pt x="4032250" y="1270000"/>
                  </a:cubicBezTo>
                  <a:lnTo>
                    <a:pt x="31750" y="1270000"/>
                  </a:lnTo>
                  <a:cubicBezTo>
                    <a:pt x="14215" y="1270000"/>
                    <a:pt x="0" y="1255785"/>
                    <a:pt x="0" y="1238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064000" cy="128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Dashboards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039850" y="3714750"/>
            <a:ext cx="209550" cy="0"/>
          </a:xfrm>
          <a:prstGeom prst="line">
            <a:avLst/>
          </a:prstGeom>
          <a:ln cap="flat" w="19050">
            <a:solidFill>
              <a:srgbClr val="67B4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4287500" y="3238500"/>
            <a:ext cx="3048000" cy="952500"/>
            <a:chOff x="0" y="0"/>
            <a:chExt cx="4064000" cy="127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064000">
                  <a:moveTo>
                    <a:pt x="31750" y="0"/>
                  </a:moveTo>
                  <a:lnTo>
                    <a:pt x="4032250" y="0"/>
                  </a:lnTo>
                  <a:cubicBezTo>
                    <a:pt x="4049785" y="0"/>
                    <a:pt x="4064000" y="14215"/>
                    <a:pt x="4064000" y="31750"/>
                  </a:cubicBezTo>
                  <a:lnTo>
                    <a:pt x="4064000" y="1238250"/>
                  </a:lnTo>
                  <a:cubicBezTo>
                    <a:pt x="4064000" y="1255785"/>
                    <a:pt x="4049785" y="1270000"/>
                    <a:pt x="4032250" y="1270000"/>
                  </a:cubicBezTo>
                  <a:lnTo>
                    <a:pt x="31750" y="1270000"/>
                  </a:lnTo>
                  <a:cubicBezTo>
                    <a:pt x="14215" y="1270000"/>
                    <a:pt x="0" y="1255785"/>
                    <a:pt x="0" y="1238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103C63"/>
            </a:solidFill>
            <a:ln w="9525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064000" cy="128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Insights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550" y="5238750"/>
            <a:ext cx="9384677" cy="2496584"/>
            <a:chOff x="0" y="0"/>
            <a:chExt cx="12700000" cy="33785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00000" cy="3378551"/>
            </a:xfrm>
            <a:custGeom>
              <a:avLst/>
              <a:gdLst/>
              <a:ahLst/>
              <a:cxnLst/>
              <a:rect r="r" b="b" t="t" l="l"/>
              <a:pathLst>
                <a:path h="3378551" w="12700000">
                  <a:moveTo>
                    <a:pt x="10312" y="0"/>
                  </a:moveTo>
                  <a:lnTo>
                    <a:pt x="12689688" y="0"/>
                  </a:lnTo>
                  <a:cubicBezTo>
                    <a:pt x="12692423" y="0"/>
                    <a:pt x="12695046" y="1086"/>
                    <a:pt x="12696980" y="3020"/>
                  </a:cubicBezTo>
                  <a:cubicBezTo>
                    <a:pt x="12698913" y="4954"/>
                    <a:pt x="12700000" y="7577"/>
                    <a:pt x="12700000" y="10312"/>
                  </a:cubicBezTo>
                  <a:lnTo>
                    <a:pt x="12700000" y="3368239"/>
                  </a:lnTo>
                  <a:cubicBezTo>
                    <a:pt x="12700000" y="3370974"/>
                    <a:pt x="12698913" y="3373597"/>
                    <a:pt x="12696980" y="3375531"/>
                  </a:cubicBezTo>
                  <a:cubicBezTo>
                    <a:pt x="12695046" y="3377465"/>
                    <a:pt x="12692423" y="3378551"/>
                    <a:pt x="12689688" y="3378551"/>
                  </a:cubicBezTo>
                  <a:lnTo>
                    <a:pt x="10312" y="3378551"/>
                  </a:lnTo>
                  <a:cubicBezTo>
                    <a:pt x="7577" y="3378551"/>
                    <a:pt x="4954" y="3377465"/>
                    <a:pt x="3020" y="3375531"/>
                  </a:cubicBezTo>
                  <a:cubicBezTo>
                    <a:pt x="1086" y="3373597"/>
                    <a:pt x="0" y="3370974"/>
                    <a:pt x="0" y="3368239"/>
                  </a:cubicBezTo>
                  <a:lnTo>
                    <a:pt x="0" y="10312"/>
                  </a:lnTo>
                  <a:cubicBezTo>
                    <a:pt x="0" y="7577"/>
                    <a:pt x="1086" y="4954"/>
                    <a:pt x="3020" y="3020"/>
                  </a:cubicBezTo>
                  <a:cubicBezTo>
                    <a:pt x="4954" y="1086"/>
                    <a:pt x="7577" y="0"/>
                    <a:pt x="10312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700000" cy="3416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06713" y="5381625"/>
            <a:ext cx="9270787" cy="186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-- 1_Revenue Query.sql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hotel,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SUM((stays_in_weekend_nights + stays_in_week_nights) * adr)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AS total_revenue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hotel_bookings_cleaned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 is_canceled = 0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hotel</a:t>
            </a:r>
          </a:p>
          <a:p>
            <a:pPr algn="l">
              <a:lnSpc>
                <a:spcPts val="1901"/>
              </a:lnSpc>
            </a:pPr>
            <a:r>
              <a:rPr lang="en-US" sz="1226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 BY total_revenue DESC;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2500" y="2057400"/>
            <a:ext cx="16192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SQL complements Python: cleaned data is loaded into a SQL environment where aggregations, window functions, and joins power KPIs that feed the dashboards.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40000" y="5314950"/>
            <a:ext cx="2857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QUERY 1 — REVENUE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49500" y="5686425"/>
            <a:ext cx="22860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Establishes hotel-level revenue baselines, ADR seasonality, and lost revenue impact.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07 · SQL QUERY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 — Business Questions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667000"/>
            <a:ext cx="8572500" cy="9525"/>
            <a:chOff x="0" y="0"/>
            <a:chExt cx="114300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3524250"/>
            <a:ext cx="8572500" cy="9525"/>
            <a:chOff x="0" y="0"/>
            <a:chExt cx="11430000" cy="1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4381500"/>
            <a:ext cx="8572500" cy="9525"/>
            <a:chOff x="0" y="0"/>
            <a:chExt cx="11430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5238750"/>
            <a:ext cx="8572500" cy="9525"/>
            <a:chOff x="0" y="0"/>
            <a:chExt cx="11430000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6096000"/>
            <a:ext cx="8572500" cy="9525"/>
            <a:chOff x="0" y="0"/>
            <a:chExt cx="11430000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6953250"/>
            <a:ext cx="8572500" cy="9525"/>
            <a:chOff x="0" y="0"/>
            <a:chExt cx="114300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7810500"/>
            <a:ext cx="8572500" cy="9525"/>
            <a:chOff x="0" y="0"/>
            <a:chExt cx="114300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0" cy="12700"/>
            </a:xfrm>
            <a:custGeom>
              <a:avLst/>
              <a:gdLst/>
              <a:ahLst/>
              <a:cxnLst/>
              <a:rect r="r" b="b" t="t" l="l"/>
              <a:pathLst>
                <a:path h="12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430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06050" y="2286000"/>
            <a:ext cx="7048500" cy="4113460"/>
            <a:chOff x="0" y="0"/>
            <a:chExt cx="9398000" cy="54846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8000" cy="5484613"/>
            </a:xfrm>
            <a:custGeom>
              <a:avLst/>
              <a:gdLst/>
              <a:ahLst/>
              <a:cxnLst/>
              <a:rect r="r" b="b" t="t" l="l"/>
              <a:pathLst>
                <a:path h="5484613" w="9398000">
                  <a:moveTo>
                    <a:pt x="13730" y="0"/>
                  </a:moveTo>
                  <a:lnTo>
                    <a:pt x="9384271" y="0"/>
                  </a:lnTo>
                  <a:cubicBezTo>
                    <a:pt x="9387911" y="0"/>
                    <a:pt x="9391404" y="1447"/>
                    <a:pt x="9393979" y="4021"/>
                  </a:cubicBezTo>
                  <a:cubicBezTo>
                    <a:pt x="9396554" y="6596"/>
                    <a:pt x="9398000" y="10088"/>
                    <a:pt x="9398000" y="13730"/>
                  </a:cubicBezTo>
                  <a:lnTo>
                    <a:pt x="9398000" y="5470884"/>
                  </a:lnTo>
                  <a:cubicBezTo>
                    <a:pt x="9398000" y="5478466"/>
                    <a:pt x="9391853" y="5484613"/>
                    <a:pt x="9384271" y="5484613"/>
                  </a:cubicBezTo>
                  <a:lnTo>
                    <a:pt x="13730" y="5484613"/>
                  </a:lnTo>
                  <a:cubicBezTo>
                    <a:pt x="10088" y="5484613"/>
                    <a:pt x="6596" y="5483167"/>
                    <a:pt x="4021" y="5480592"/>
                  </a:cubicBezTo>
                  <a:cubicBezTo>
                    <a:pt x="1447" y="5478017"/>
                    <a:pt x="0" y="5474525"/>
                    <a:pt x="0" y="5470884"/>
                  </a:cubicBezTo>
                  <a:lnTo>
                    <a:pt x="0" y="13730"/>
                  </a:lnTo>
                  <a:cubicBezTo>
                    <a:pt x="0" y="10088"/>
                    <a:pt x="1447" y="6596"/>
                    <a:pt x="4021" y="4021"/>
                  </a:cubicBezTo>
                  <a:cubicBezTo>
                    <a:pt x="6596" y="1447"/>
                    <a:pt x="10088" y="0"/>
                    <a:pt x="13730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398000" cy="5522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515600" y="2428875"/>
            <a:ext cx="6473586" cy="336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Sql/1_Revenue Query.sql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Total revenue by hotel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hotel, SUM(...) AS total_revenue ...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Average ADR by month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arrival_date_month, AVG(adr) ...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Lost revenue by month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arrival_date_month,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SUM((weekend+week)*adr) AS lost_revenue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 is_canceled = 1 ...</a:t>
            </a:r>
          </a:p>
          <a:p>
            <a:pPr algn="l">
              <a:lnSpc>
                <a:spcPts val="1826"/>
              </a:lnSpc>
            </a:pP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Top 5 countries by revenue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TOP 5 country, SUM(...) ...</a:t>
            </a:r>
          </a:p>
          <a:p>
            <a:pPr algn="l">
              <a:lnSpc>
                <a:spcPts val="1826"/>
              </a:lnSpc>
            </a:pPr>
            <a:r>
              <a:rPr lang="en-US" sz="1178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country ORDER BY revenue DESC;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" y="224790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95500" y="223837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Total revenue by hotel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3000" y="310515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95500" y="309562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Average ADR by month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3000" y="396240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95500" y="395287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Lost revenue by month (cancellations)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" y="481965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95500" y="481012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Average ADR by market segment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3000" y="567690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95500" y="566737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Hotel revenue and average lead time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3000" y="653415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95500" y="652462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 and booking count by meal plan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7391400"/>
            <a:ext cx="76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095500" y="7381875"/>
            <a:ext cx="762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F2328"/>
                </a:solidFill>
                <a:latin typeface="Inter 1 Bold"/>
                <a:ea typeface="Inter 1 Bold"/>
                <a:cs typeface="Inter 1 Bold"/>
                <a:sym typeface="Inter 1 Bold"/>
              </a:rPr>
              <a:t>Top 5 countries by revenue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2286000"/>
            <a:ext cx="8572500" cy="2857500"/>
            <a:chOff x="0" y="0"/>
            <a:chExt cx="1143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1430000">
                  <a:moveTo>
                    <a:pt x="11289" y="0"/>
                  </a:moveTo>
                  <a:lnTo>
                    <a:pt x="11418711" y="0"/>
                  </a:lnTo>
                  <a:cubicBezTo>
                    <a:pt x="11424946" y="0"/>
                    <a:pt x="11430000" y="5054"/>
                    <a:pt x="11430000" y="11289"/>
                  </a:cubicBezTo>
                  <a:lnTo>
                    <a:pt x="11430000" y="3798711"/>
                  </a:lnTo>
                  <a:cubicBezTo>
                    <a:pt x="11430000" y="3804946"/>
                    <a:pt x="11424946" y="3810000"/>
                    <a:pt x="11418711" y="3810000"/>
                  </a:cubicBezTo>
                  <a:lnTo>
                    <a:pt x="11289" y="3810000"/>
                  </a:lnTo>
                  <a:cubicBezTo>
                    <a:pt x="5054" y="3810000"/>
                    <a:pt x="0" y="3804946"/>
                    <a:pt x="0" y="3798711"/>
                  </a:cubicBezTo>
                  <a:lnTo>
                    <a:pt x="0" y="11289"/>
                  </a:lnTo>
                  <a:cubicBezTo>
                    <a:pt x="0" y="5054"/>
                    <a:pt x="5054" y="0"/>
                    <a:pt x="11289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3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436620" y="2093565"/>
            <a:ext cx="8305232" cy="6480869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52500" y="6444615"/>
            <a:ext cx="8898281" cy="2870331"/>
          </a:xfrm>
          <a:custGeom>
            <a:avLst/>
            <a:gdLst/>
            <a:ahLst/>
            <a:cxnLst/>
            <a:rect r="r" b="b" t="t" l="l"/>
            <a:pathLst>
              <a:path h="2870331" w="8898281">
                <a:moveTo>
                  <a:pt x="0" y="0"/>
                </a:moveTo>
                <a:lnTo>
                  <a:pt x="8898281" y="0"/>
                </a:lnTo>
                <a:lnTo>
                  <a:pt x="8898281" y="2870331"/>
                </a:lnTo>
                <a:lnTo>
                  <a:pt x="0" y="287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9" t="0" r="-1469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07 · SQL QUERY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Total Revenue by Hotel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" y="2428875"/>
            <a:ext cx="8115300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hotel,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SUM((stays_in_weekend_nights + stays_in_week_nights) * adr)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AS Total_Revenue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hotel_bookings_cleaned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 is_canceled = 0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hotel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 BY Total_Revenue DESC;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070985"/>
            <a:ext cx="3810000" cy="17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FBFBFA"/>
                </a:solidFill>
                <a:latin typeface="Inter 1"/>
                <a:ea typeface="Inter 1"/>
                <a:cs typeface="Inter 1"/>
                <a:sym typeface="Inter 1"/>
              </a:rPr>
              <a:t>FORMULA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4362450"/>
            <a:ext cx="8572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FBF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Revenue = (weekend_nights + week_nights) × ADR   ·   filtered to is_canceled = 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5314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KEY OBSERVATION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5581650"/>
            <a:ext cx="85725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City Hotel outperforms Resort Hotel on realized revenue, driven by higher booking volume despite comparable ADR.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486847"/>
            <a:ext cx="2029968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b="true" sz="1584" spc="158">
                <a:solidFill>
                  <a:srgbClr val="0D743E"/>
                </a:solidFill>
                <a:latin typeface="Aileron Bold"/>
                <a:ea typeface="Aileron Bold"/>
                <a:cs typeface="Aileron Bold"/>
                <a:sym typeface="Aileron Bold"/>
              </a:rPr>
              <a:t>07 · SQL QUERY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" y="831152"/>
            <a:ext cx="711403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3915" b="true">
                <a:solidFill>
                  <a:srgbClr val="145285"/>
                </a:solidFill>
                <a:latin typeface="Aileron Bold"/>
                <a:ea typeface="Aileron Bold"/>
                <a:cs typeface="Aileron Bold"/>
                <a:sym typeface="Aileron Bold"/>
              </a:rPr>
              <a:t>ADR &amp; Lost Revenue by Month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714500"/>
            <a:ext cx="8067675" cy="3000375"/>
          </a:xfrm>
          <a:custGeom>
            <a:avLst/>
            <a:gdLst/>
            <a:ahLst/>
            <a:cxnLst/>
            <a:rect r="r" b="b" t="t" l="l"/>
            <a:pathLst>
              <a:path h="3000375" w="8067675">
                <a:moveTo>
                  <a:pt x="0" y="0"/>
                </a:moveTo>
                <a:lnTo>
                  <a:pt x="8067675" y="0"/>
                </a:lnTo>
                <a:lnTo>
                  <a:pt x="80676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1924050"/>
            <a:ext cx="7191375" cy="2581275"/>
          </a:xfrm>
          <a:custGeom>
            <a:avLst/>
            <a:gdLst/>
            <a:ahLst/>
            <a:cxnLst/>
            <a:rect r="r" b="b" t="t" l="l"/>
            <a:pathLst>
              <a:path h="2581275" w="7191375">
                <a:moveTo>
                  <a:pt x="0" y="0"/>
                </a:moveTo>
                <a:lnTo>
                  <a:pt x="7191375" y="0"/>
                </a:lnTo>
                <a:lnTo>
                  <a:pt x="7191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49550" y="321729"/>
            <a:ext cx="2628900" cy="1499668"/>
          </a:xfrm>
          <a:custGeom>
            <a:avLst/>
            <a:gdLst/>
            <a:ahLst/>
            <a:cxnLst/>
            <a:rect r="r" b="b" t="t" l="l"/>
            <a:pathLst>
              <a:path h="1499668" w="2628900">
                <a:moveTo>
                  <a:pt x="0" y="0"/>
                </a:moveTo>
                <a:lnTo>
                  <a:pt x="2628900" y="0"/>
                </a:lnTo>
                <a:lnTo>
                  <a:pt x="2628900" y="1499667"/>
                </a:lnTo>
                <a:lnTo>
                  <a:pt x="0" y="1499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-20717" r="-12272" b="-2509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45952" y="2060758"/>
            <a:ext cx="4553712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b="true" sz="1584">
                <a:solidFill>
                  <a:srgbClr val="145285"/>
                </a:solidFill>
                <a:latin typeface="Aileron Bold"/>
                <a:ea typeface="Aileron Bold"/>
                <a:cs typeface="Aileron Bold"/>
                <a:sym typeface="Aileron Bold"/>
              </a:rPr>
              <a:t>Lost — Revenue from Cancellations by Month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20300" y="2878398"/>
            <a:ext cx="7410450" cy="3765289"/>
          </a:xfrm>
          <a:custGeom>
            <a:avLst/>
            <a:gdLst/>
            <a:ahLst/>
            <a:cxnLst/>
            <a:rect r="r" b="b" t="t" l="l"/>
            <a:pathLst>
              <a:path h="3765289" w="7410450">
                <a:moveTo>
                  <a:pt x="0" y="0"/>
                </a:moveTo>
                <a:lnTo>
                  <a:pt x="7410450" y="0"/>
                </a:lnTo>
                <a:lnTo>
                  <a:pt x="7410450" y="3765290"/>
                </a:lnTo>
                <a:lnTo>
                  <a:pt x="0" y="37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2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33472" y="4869109"/>
            <a:ext cx="3566160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0D743E"/>
                </a:solidFill>
                <a:latin typeface="Aileron Bold"/>
                <a:ea typeface="Aileron Bold"/>
                <a:cs typeface="Aileron Bold"/>
                <a:sym typeface="Aileron Bold"/>
              </a:rPr>
              <a:t>Realized — Average ADR by Month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4000" y="5572125"/>
            <a:ext cx="6753225" cy="1076325"/>
          </a:xfrm>
          <a:custGeom>
            <a:avLst/>
            <a:gdLst/>
            <a:ahLst/>
            <a:cxnLst/>
            <a:rect r="r" b="b" t="t" l="l"/>
            <a:pathLst>
              <a:path h="1076325" w="6753225">
                <a:moveTo>
                  <a:pt x="0" y="0"/>
                </a:moveTo>
                <a:lnTo>
                  <a:pt x="6753225" y="0"/>
                </a:lnTo>
                <a:lnTo>
                  <a:pt x="6753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25" y="7715250"/>
            <a:ext cx="8067675" cy="1933575"/>
          </a:xfrm>
          <a:custGeom>
            <a:avLst/>
            <a:gdLst/>
            <a:ahLst/>
            <a:cxnLst/>
            <a:rect r="r" b="b" t="t" l="l"/>
            <a:pathLst>
              <a:path h="1933575" w="8067675">
                <a:moveTo>
                  <a:pt x="0" y="0"/>
                </a:moveTo>
                <a:lnTo>
                  <a:pt x="8067675" y="0"/>
                </a:lnTo>
                <a:lnTo>
                  <a:pt x="8067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7824" y="8080748"/>
            <a:ext cx="4645152" cy="126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279" b="true">
                <a:solidFill>
                  <a:srgbClr val="0D743E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Q4 — Average ADR by Market Segment</a:t>
            </a:r>
          </a:p>
          <a:p>
            <a:pPr algn="l">
              <a:lnSpc>
                <a:spcPts val="2047"/>
              </a:lnSpc>
            </a:pPr>
            <a:r>
              <a:rPr lang="en-US" sz="12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SELECT market segment, Avg(adj) AS Average_ADR</a:t>
            </a:r>
          </a:p>
          <a:p>
            <a:pPr algn="l">
              <a:lnSpc>
                <a:spcPts val="2047"/>
              </a:lnSpc>
            </a:pPr>
            <a:r>
              <a:rPr lang="en-US" sz="1279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WHERE is(cancelled = 0</a:t>
            </a:r>
          </a:p>
          <a:p>
            <a:pPr algn="l">
              <a:lnSpc>
                <a:spcPts val="2047"/>
              </a:lnSpc>
            </a:pPr>
            <a:r>
              <a:rPr lang="en-US" sz="12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GROUP BY market segment</a:t>
            </a:r>
          </a:p>
          <a:p>
            <a:pPr algn="l">
              <a:lnSpc>
                <a:spcPts val="2047"/>
              </a:lnSpc>
            </a:pPr>
            <a:r>
              <a:rPr lang="en-US" sz="12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ORDER BY Average ADR BESC,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24925" y="81438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94976" y="8212384"/>
            <a:ext cx="4041648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 b="true">
                <a:solidFill>
                  <a:srgbClr val="145285"/>
                </a:solidFill>
                <a:latin typeface="Aileron Bold"/>
                <a:ea typeface="Aileron Bold"/>
                <a:cs typeface="Aileron Bold"/>
                <a:sym typeface="Aileron Bold"/>
              </a:rPr>
              <a:t>Q4 — Average ADR by Market Segment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4976" y="8581918"/>
            <a:ext cx="6693408" cy="87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This query compares the average daily rate across market segments for confirmed bookings, highlighting which segments command higher ADR and informing targeted pricing and segmentation strategies.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8640" y="9847219"/>
            <a:ext cx="3621024" cy="2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326">
                <a:solidFill>
                  <a:srgbClr val="0D743E"/>
                </a:solidFill>
                <a:latin typeface="Aileron"/>
                <a:ea typeface="Aileron"/>
                <a:cs typeface="Aileron"/>
                <a:sym typeface="Aileron"/>
              </a:rPr>
              <a:t>Hotel Booking Analysis - </a:t>
            </a:r>
            <a:r>
              <a:rPr lang="en-US" sz="132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 Analytics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38192" y="9851088"/>
            <a:ext cx="201168" cy="2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8"/>
              </a:lnSpc>
            </a:pPr>
            <a:r>
              <a:rPr lang="en-US" sz="1256" b="true">
                <a:solidFill>
                  <a:srgbClr val="0D743E"/>
                </a:solidFill>
                <a:latin typeface="Aileron Bold"/>
                <a:ea typeface="Aileron Bold"/>
                <a:cs typeface="Aileron Bold"/>
                <a:sym typeface="Aileron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4672" y="585662"/>
            <a:ext cx="1847088" cy="21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689" b="true">
                <a:solidFill>
                  <a:srgbClr val="002C4F"/>
                </a:solidFill>
                <a:latin typeface="DM Sans Bold"/>
                <a:ea typeface="DM Sans Bold"/>
                <a:cs typeface="DM Sans Bold"/>
                <a:sym typeface="DM Sans Bold"/>
              </a:rPr>
              <a:t>07 • SQL QUERY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4672" y="1013275"/>
            <a:ext cx="7095744" cy="58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4469" spc="-89" b="true">
                <a:solidFill>
                  <a:srgbClr val="002C4F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 Analysis • Q5–Q7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40000" y="433983"/>
            <a:ext cx="2619375" cy="1494234"/>
          </a:xfrm>
          <a:custGeom>
            <a:avLst/>
            <a:gdLst/>
            <a:ahLst/>
            <a:cxnLst/>
            <a:rect r="r" b="b" t="t" l="l"/>
            <a:pathLst>
              <a:path h="1494234" w="2619375">
                <a:moveTo>
                  <a:pt x="0" y="0"/>
                </a:moveTo>
                <a:lnTo>
                  <a:pt x="2619375" y="0"/>
                </a:lnTo>
                <a:lnTo>
                  <a:pt x="2619375" y="1494234"/>
                </a:lnTo>
                <a:lnTo>
                  <a:pt x="0" y="149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-20717" r="-12272" b="-2509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2352675"/>
            <a:ext cx="5667375" cy="1295400"/>
          </a:xfrm>
          <a:custGeom>
            <a:avLst/>
            <a:gdLst/>
            <a:ahLst/>
            <a:cxnLst/>
            <a:rect r="r" b="b" t="t" l="l"/>
            <a:pathLst>
              <a:path h="1295400" w="5667375">
                <a:moveTo>
                  <a:pt x="0" y="0"/>
                </a:moveTo>
                <a:lnTo>
                  <a:pt x="5667375" y="0"/>
                </a:lnTo>
                <a:lnTo>
                  <a:pt x="5667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2352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25717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1408" y="2683538"/>
            <a:ext cx="3182112" cy="63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315" spc="-4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Q5. Hotel Revenue Plus Average Lead 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3798463"/>
            <a:ext cx="3456432" cy="87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spc="-31">
                <a:solidFill>
                  <a:srgbClr val="002C4F"/>
                </a:solidFill>
                <a:latin typeface="DM Sans"/>
                <a:ea typeface="DM Sans"/>
                <a:cs typeface="DM Sans"/>
                <a:sym typeface="DM Sans"/>
              </a:rPr>
              <a:t>Using confirmed bookings only, calculate total revenue and average lead time (days) by hotel.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5850" y="514350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5850" y="55721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5850" y="5781675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6775" y="6638925"/>
            <a:ext cx="5229225" cy="2790825"/>
          </a:xfrm>
          <a:custGeom>
            <a:avLst/>
            <a:gdLst/>
            <a:ahLst/>
            <a:cxnLst/>
            <a:rect r="r" b="b" t="t" l="l"/>
            <a:pathLst>
              <a:path h="2790825" w="5229225">
                <a:moveTo>
                  <a:pt x="0" y="0"/>
                </a:moveTo>
                <a:lnTo>
                  <a:pt x="5229225" y="0"/>
                </a:lnTo>
                <a:lnTo>
                  <a:pt x="5229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7280" y="7007257"/>
            <a:ext cx="4645152" cy="19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b="true" sz="1256" spc="-25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SELECT</a:t>
            </a: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HOTEL,</a:t>
            </a:r>
          </a:p>
          <a:p>
            <a:pPr algn="l">
              <a:lnSpc>
                <a:spcPts val="2010"/>
              </a:lnSpc>
            </a:pP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_AVG(AVERAGE_LEAD_TIME_DAYS) AS AVERAGE_LEAD_TIME_DAYS, SUN(ADR * (1 - DISCOUNT)) AS TOTALREVENUE, COUNT (*) </a:t>
            </a:r>
            <a:r>
              <a:rPr lang="en-US" b="true" sz="1256" spc="-25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AS</a:t>
            </a: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NUMBER_OF_BOOKINGS</a:t>
            </a:r>
          </a:p>
          <a:p>
            <a:pPr algn="l">
              <a:lnSpc>
                <a:spcPts val="2010"/>
              </a:lnSpc>
            </a:pP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FROM</a:t>
            </a:r>
            <a:r>
              <a:rPr lang="en-US" b="true" sz="1256" spc="-25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BOOKINGS</a:t>
            </a:r>
          </a:p>
          <a:p>
            <a:pPr algn="l">
              <a:lnSpc>
                <a:spcPts val="2010"/>
              </a:lnSpc>
            </a:pP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WHERE</a:t>
            </a:r>
            <a:r>
              <a:rPr lang="en-US" b="true" sz="1256" spc="-25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IS CANCELED = 0 AND</a:t>
            </a:r>
          </a:p>
          <a:p>
            <a:pPr algn="l">
              <a:lnSpc>
                <a:spcPts val="2010"/>
              </a:lnSpc>
            </a:pPr>
            <a:r>
              <a:rPr lang="en-US" b="true" sz="1256" spc="-25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GROUP BY</a:t>
            </a: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HOTEL</a:t>
            </a:r>
          </a:p>
          <a:p>
            <a:pPr algn="l">
              <a:lnSpc>
                <a:spcPts val="2010"/>
              </a:lnSpc>
            </a:pP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ORDER BY</a:t>
            </a:r>
            <a:r>
              <a:rPr lang="en-US" b="true" sz="1256" spc="-25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256" spc="-2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TOTAL_REVENUE DESC,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4672" y="9882896"/>
            <a:ext cx="1645920" cy="17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399" b="true">
                <a:solidFill>
                  <a:srgbClr val="002C4F"/>
                </a:solidFill>
                <a:latin typeface="DM Sans Bold"/>
                <a:ea typeface="DM Sans Bold"/>
                <a:cs typeface="DM Sans Bold"/>
                <a:sym typeface="DM Sans Bold"/>
              </a:rPr>
              <a:t>07 • SQL QUERY 1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05550" y="2352675"/>
            <a:ext cx="5676900" cy="1295400"/>
          </a:xfrm>
          <a:custGeom>
            <a:avLst/>
            <a:gdLst/>
            <a:ahLst/>
            <a:cxnLst/>
            <a:rect r="r" b="b" t="t" l="l"/>
            <a:pathLst>
              <a:path h="1295400" w="5676900">
                <a:moveTo>
                  <a:pt x="0" y="0"/>
                </a:moveTo>
                <a:lnTo>
                  <a:pt x="5676900" y="0"/>
                </a:lnTo>
                <a:lnTo>
                  <a:pt x="5676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305550" y="2352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24625" y="25717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35824" y="2683359"/>
            <a:ext cx="3511296" cy="64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343" spc="-4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Q6. Revenue and Booking Count by Meal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1696" y="3798463"/>
            <a:ext cx="3712464" cy="87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spc="-31">
                <a:solidFill>
                  <a:srgbClr val="002C4F"/>
                </a:solidFill>
                <a:latin typeface="DM Sans"/>
                <a:ea typeface="DM Sans"/>
                <a:cs typeface="DM Sans"/>
                <a:sym typeface="DM Sans"/>
              </a:rPr>
              <a:t>Using confirmed bookings only, calculate total revenue and number of bookings by meal plan.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524625" y="5353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24625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24625" y="60007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05550" y="6638925"/>
            <a:ext cx="5457825" cy="2790825"/>
          </a:xfrm>
          <a:custGeom>
            <a:avLst/>
            <a:gdLst/>
            <a:ahLst/>
            <a:cxnLst/>
            <a:rect r="r" b="b" t="t" l="l"/>
            <a:pathLst>
              <a:path h="2790825" w="5457825">
                <a:moveTo>
                  <a:pt x="0" y="0"/>
                </a:moveTo>
                <a:lnTo>
                  <a:pt x="5457825" y="0"/>
                </a:lnTo>
                <a:lnTo>
                  <a:pt x="5457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711696" y="7035332"/>
            <a:ext cx="4279392" cy="184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SELECT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MEAL,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SUM(ADR * (1 - DISCOUNT)) AS TOTALREVENUE, COUNT (*) 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AS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NUMBER_OF_BOOKINGS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FROM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BOOKINGS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WHERE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IS CANCELED = 0 AND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GROUP BY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MEAL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ORDER BY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TOTAL_REVENUE DESC;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972925" y="2352675"/>
            <a:ext cx="5667375" cy="1295400"/>
          </a:xfrm>
          <a:custGeom>
            <a:avLst/>
            <a:gdLst/>
            <a:ahLst/>
            <a:cxnLst/>
            <a:rect r="r" b="b" t="t" l="l"/>
            <a:pathLst>
              <a:path h="1295400" w="5667375">
                <a:moveTo>
                  <a:pt x="0" y="0"/>
                </a:moveTo>
                <a:lnTo>
                  <a:pt x="5667375" y="0"/>
                </a:lnTo>
                <a:lnTo>
                  <a:pt x="5667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72925" y="2352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92000" y="2571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368528" y="2683359"/>
            <a:ext cx="2724912" cy="64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343" spc="-4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Q7. Top 5 Countries by Revenue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62688" y="3798463"/>
            <a:ext cx="3547872" cy="87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spc="-31">
                <a:solidFill>
                  <a:srgbClr val="002C4F"/>
                </a:solidFill>
                <a:latin typeface="DM Sans"/>
                <a:ea typeface="DM Sans"/>
                <a:cs typeface="DM Sans"/>
                <a:sym typeface="DM Sans"/>
              </a:rPr>
              <a:t>Using confirmed bookings only, exclude null countries and return the top 5 countries by total revenue.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192000" y="535305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92000" y="578167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972925" y="6638925"/>
            <a:ext cx="5448300" cy="2790825"/>
          </a:xfrm>
          <a:custGeom>
            <a:avLst/>
            <a:gdLst/>
            <a:ahLst/>
            <a:cxnLst/>
            <a:rect r="r" b="b" t="t" l="l"/>
            <a:pathLst>
              <a:path h="2790825" w="5448300">
                <a:moveTo>
                  <a:pt x="0" y="0"/>
                </a:moveTo>
                <a:lnTo>
                  <a:pt x="5448300" y="0"/>
                </a:lnTo>
                <a:lnTo>
                  <a:pt x="5448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362688" y="6994565"/>
            <a:ext cx="4187952" cy="211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SELECT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COUNTRY,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SUM(ADR * (1 - DISCOUNT)) AS TOTALREVENUE, FROM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BOOKINGS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WHERE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IS CANCELED = 0 AND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AND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COUNTRY IS NOT NULLL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GROUP BY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COUNTRY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ORDER BY</a:t>
            </a:r>
            <a:r>
              <a:rPr lang="en-US" b="true" sz="1326" spc="-26">
                <a:solidFill>
                  <a:srgbClr val="37C9F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TOTAL_REVENUE DESC</a:t>
            </a:r>
          </a:p>
          <a:p>
            <a:pPr algn="l">
              <a:lnSpc>
                <a:spcPts val="2122"/>
              </a:lnSpc>
            </a:pPr>
            <a:r>
              <a:rPr lang="en-US" b="true" sz="1326" spc="-26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LIMIT 5;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7280" y="4944594"/>
            <a:ext cx="2834640" cy="123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2"/>
              </a:lnSpc>
            </a:pPr>
            <a:r>
              <a:rPr lang="en-US" b="true" sz="1551" spc="-31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Returns:</a:t>
            </a:r>
          </a:p>
          <a:p>
            <a:pPr algn="l">
              <a:lnSpc>
                <a:spcPts val="2482"/>
              </a:lnSpc>
            </a:pPr>
            <a:r>
              <a:rPr lang="en-US" sz="1551" spc="-3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Hotel</a:t>
            </a:r>
          </a:p>
          <a:p>
            <a:pPr algn="l">
              <a:lnSpc>
                <a:spcPts val="2482"/>
              </a:lnSpc>
            </a:pPr>
            <a:r>
              <a:rPr lang="en-US" sz="1551" spc="-3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Average_Lead_Time_Days</a:t>
            </a:r>
          </a:p>
          <a:p>
            <a:pPr algn="l">
              <a:lnSpc>
                <a:spcPts val="2482"/>
              </a:lnSpc>
            </a:pPr>
            <a:r>
              <a:rPr lang="en-US" sz="1551" spc="-3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Total_Revenue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11696" y="5079921"/>
            <a:ext cx="2395728" cy="124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b="true" sz="1584" spc="-31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Returns:</a:t>
            </a:r>
          </a:p>
          <a:p>
            <a:pPr algn="l">
              <a:lnSpc>
                <a:spcPts val="2535"/>
              </a:lnSpc>
            </a:pPr>
            <a:r>
              <a:rPr lang="en-US" sz="1584" spc="-3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Meal</a:t>
            </a:r>
          </a:p>
          <a:p>
            <a:pPr algn="l">
              <a:lnSpc>
                <a:spcPts val="2535"/>
              </a:lnSpc>
            </a:pPr>
            <a:r>
              <a:rPr lang="en-US" sz="1584" spc="-3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Total_Revenue</a:t>
            </a:r>
          </a:p>
          <a:p>
            <a:pPr algn="l">
              <a:lnSpc>
                <a:spcPts val="2535"/>
              </a:lnSpc>
            </a:pPr>
            <a:r>
              <a:rPr lang="en-US" sz="1584" spc="-3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Number_Of_Bookings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62688" y="5216104"/>
            <a:ext cx="1719072" cy="86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b="true" sz="1485" spc="-29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Returns:</a:t>
            </a:r>
          </a:p>
          <a:p>
            <a:pPr algn="l">
              <a:lnSpc>
                <a:spcPts val="2377"/>
              </a:lnSpc>
            </a:pPr>
            <a:r>
              <a:rPr lang="en-US" sz="1485" spc="-2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Country</a:t>
            </a:r>
          </a:p>
          <a:p>
            <a:pPr algn="l">
              <a:lnSpc>
                <a:spcPts val="2377"/>
              </a:lnSpc>
            </a:pPr>
            <a:r>
              <a:rPr lang="en-US" sz="1485" spc="-2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✔ Total_Revenue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2500" y="1379220"/>
            <a:ext cx="15318710" cy="8929916"/>
          </a:xfrm>
          <a:custGeom>
            <a:avLst/>
            <a:gdLst/>
            <a:ahLst/>
            <a:cxnLst/>
            <a:rect r="r" b="b" t="t" l="l"/>
            <a:pathLst>
              <a:path h="8929916" w="15318710">
                <a:moveTo>
                  <a:pt x="0" y="0"/>
                </a:moveTo>
                <a:lnTo>
                  <a:pt x="15318710" y="0"/>
                </a:lnTo>
                <a:lnTo>
                  <a:pt x="15318710" y="8929916"/>
                </a:lnTo>
                <a:lnTo>
                  <a:pt x="0" y="8929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t="-185" r="-909" b="-233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07 · POWER BI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 / Hotel Performance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07 · SQL QUERY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 — Key Findings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095500"/>
            <a:ext cx="8001000" cy="6858000"/>
            <a:chOff x="0" y="0"/>
            <a:chExt cx="10668000" cy="9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8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668000">
                  <a:moveTo>
                    <a:pt x="15119" y="0"/>
                  </a:moveTo>
                  <a:lnTo>
                    <a:pt x="10652881" y="0"/>
                  </a:lnTo>
                  <a:cubicBezTo>
                    <a:pt x="10656891" y="0"/>
                    <a:pt x="10660736" y="1593"/>
                    <a:pt x="10663572" y="4428"/>
                  </a:cubicBezTo>
                  <a:cubicBezTo>
                    <a:pt x="10666407" y="7264"/>
                    <a:pt x="10668000" y="11109"/>
                    <a:pt x="10668000" y="15119"/>
                  </a:cubicBezTo>
                  <a:lnTo>
                    <a:pt x="10668000" y="9128881"/>
                  </a:lnTo>
                  <a:cubicBezTo>
                    <a:pt x="10668000" y="9132891"/>
                    <a:pt x="10666407" y="9136736"/>
                    <a:pt x="10663572" y="9139572"/>
                  </a:cubicBezTo>
                  <a:cubicBezTo>
                    <a:pt x="10660736" y="9142407"/>
                    <a:pt x="10656891" y="9144000"/>
                    <a:pt x="10652881" y="9144000"/>
                  </a:cubicBezTo>
                  <a:lnTo>
                    <a:pt x="15119" y="9144000"/>
                  </a:lnTo>
                  <a:cubicBezTo>
                    <a:pt x="11109" y="9144000"/>
                    <a:pt x="7264" y="9142407"/>
                    <a:pt x="4428" y="9139572"/>
                  </a:cubicBezTo>
                  <a:cubicBezTo>
                    <a:pt x="1593" y="9136736"/>
                    <a:pt x="0" y="9132891"/>
                    <a:pt x="0" y="9128881"/>
                  </a:cubicBezTo>
                  <a:lnTo>
                    <a:pt x="0" y="15119"/>
                  </a:lnTo>
                  <a:cubicBezTo>
                    <a:pt x="0" y="11109"/>
                    <a:pt x="1593" y="7264"/>
                    <a:pt x="4428" y="4428"/>
                  </a:cubicBezTo>
                  <a:cubicBezTo>
                    <a:pt x="7264" y="1593"/>
                    <a:pt x="11109" y="0"/>
                    <a:pt x="1511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668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95500"/>
            <a:ext cx="8001000" cy="76200"/>
            <a:chOff x="0" y="0"/>
            <a:chExt cx="10668000" cy="10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6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6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34500" y="2095500"/>
            <a:ext cx="8001000" cy="6858000"/>
            <a:chOff x="0" y="0"/>
            <a:chExt cx="10668000" cy="914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68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668000">
                  <a:moveTo>
                    <a:pt x="15119" y="0"/>
                  </a:moveTo>
                  <a:lnTo>
                    <a:pt x="10652881" y="0"/>
                  </a:lnTo>
                  <a:cubicBezTo>
                    <a:pt x="10656891" y="0"/>
                    <a:pt x="10660736" y="1593"/>
                    <a:pt x="10663572" y="4428"/>
                  </a:cubicBezTo>
                  <a:cubicBezTo>
                    <a:pt x="10666407" y="7264"/>
                    <a:pt x="10668000" y="11109"/>
                    <a:pt x="10668000" y="15119"/>
                  </a:cubicBezTo>
                  <a:lnTo>
                    <a:pt x="10668000" y="9128881"/>
                  </a:lnTo>
                  <a:cubicBezTo>
                    <a:pt x="10668000" y="9132891"/>
                    <a:pt x="10666407" y="9136736"/>
                    <a:pt x="10663572" y="9139572"/>
                  </a:cubicBezTo>
                  <a:cubicBezTo>
                    <a:pt x="10660736" y="9142407"/>
                    <a:pt x="10656891" y="9144000"/>
                    <a:pt x="10652881" y="9144000"/>
                  </a:cubicBezTo>
                  <a:lnTo>
                    <a:pt x="15119" y="9144000"/>
                  </a:lnTo>
                  <a:cubicBezTo>
                    <a:pt x="11109" y="9144000"/>
                    <a:pt x="7264" y="9142407"/>
                    <a:pt x="4428" y="9139572"/>
                  </a:cubicBezTo>
                  <a:cubicBezTo>
                    <a:pt x="1593" y="9136736"/>
                    <a:pt x="0" y="9132891"/>
                    <a:pt x="0" y="9128881"/>
                  </a:cubicBezTo>
                  <a:lnTo>
                    <a:pt x="0" y="15119"/>
                  </a:lnTo>
                  <a:cubicBezTo>
                    <a:pt x="0" y="11109"/>
                    <a:pt x="1593" y="7264"/>
                    <a:pt x="4428" y="4428"/>
                  </a:cubicBezTo>
                  <a:cubicBezTo>
                    <a:pt x="7264" y="1593"/>
                    <a:pt x="11109" y="0"/>
                    <a:pt x="1511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68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34500" y="2095500"/>
            <a:ext cx="8001000" cy="76200"/>
            <a:chOff x="0" y="0"/>
            <a:chExt cx="10668000" cy="10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66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33500" y="2428875"/>
            <a:ext cx="7239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247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3500" y="3000375"/>
            <a:ext cx="7239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→  City Hotel generates higher realized revenue than Resort Hotel.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→  Cancellations account for ~$16.72M in lost revenue across the dataset.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→  ADR varies materially by month and by market segment.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0" y="2428875"/>
            <a:ext cx="7239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247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BUSINESS INTERPRETATION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5500" y="3000375"/>
            <a:ext cx="7239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→  Reducing cancellation rate is the largest single lever to recover revenue.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→  Seasonal ADR peaks (Jul–Aug) support demand-based pricing strategy.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→  Segment-level ADR gaps inform channel-specific commercial policies.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18756" cy="10287000"/>
          </a:xfrm>
          <a:custGeom>
            <a:avLst/>
            <a:gdLst/>
            <a:ahLst/>
            <a:cxnLst/>
            <a:rect r="r" b="b" t="t" l="l"/>
            <a:pathLst>
              <a:path h="10287000" w="218756">
                <a:moveTo>
                  <a:pt x="0" y="0"/>
                </a:moveTo>
                <a:lnTo>
                  <a:pt x="218756" y="0"/>
                </a:lnTo>
                <a:lnTo>
                  <a:pt x="218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2842" y="945505"/>
            <a:ext cx="4582938" cy="2612969"/>
          </a:xfrm>
          <a:custGeom>
            <a:avLst/>
            <a:gdLst/>
            <a:ahLst/>
            <a:cxnLst/>
            <a:rect r="r" b="b" t="t" l="l"/>
            <a:pathLst>
              <a:path h="2612969" w="4582938">
                <a:moveTo>
                  <a:pt x="0" y="0"/>
                </a:moveTo>
                <a:lnTo>
                  <a:pt x="4582938" y="0"/>
                </a:lnTo>
                <a:lnTo>
                  <a:pt x="4582938" y="2612969"/>
                </a:lnTo>
                <a:lnTo>
                  <a:pt x="0" y="2612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-20717" r="-12272" b="-250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128" y="4642368"/>
            <a:ext cx="9619488" cy="200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9"/>
              </a:lnSpc>
            </a:pPr>
            <a:r>
              <a:rPr lang="en-US" sz="11807" b="true">
                <a:solidFill>
                  <a:srgbClr val="103565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ELSAYED ELSAWAF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6838528"/>
            <a:ext cx="7552944" cy="63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782" b="true">
                <a:solidFill>
                  <a:srgbClr val="14528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Query 2 • Market Analysis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7707051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4128" y="8137016"/>
            <a:ext cx="8284464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>
                <a:solidFill>
                  <a:srgbClr val="103565"/>
                </a:solidFill>
                <a:latin typeface="Roboto"/>
                <a:ea typeface="Roboto"/>
                <a:cs typeface="Roboto"/>
                <a:sym typeface="Roboto"/>
              </a:rPr>
              <a:t>From market segments to distribution performance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673866" y="1071335"/>
            <a:ext cx="1750048" cy="863627"/>
          </a:xfrm>
          <a:custGeom>
            <a:avLst/>
            <a:gdLst/>
            <a:ahLst/>
            <a:cxnLst/>
            <a:rect r="r" b="b" t="t" l="l"/>
            <a:pathLst>
              <a:path h="863627" w="1750048">
                <a:moveTo>
                  <a:pt x="0" y="0"/>
                </a:moveTo>
                <a:lnTo>
                  <a:pt x="1750048" y="0"/>
                </a:lnTo>
                <a:lnTo>
                  <a:pt x="1750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20622" y="3214004"/>
            <a:ext cx="6967378" cy="6865288"/>
          </a:xfrm>
          <a:custGeom>
            <a:avLst/>
            <a:gdLst/>
            <a:ahLst/>
            <a:cxnLst/>
            <a:rect r="r" b="b" t="t" l="l"/>
            <a:pathLst>
              <a:path h="6865288" w="6967378">
                <a:moveTo>
                  <a:pt x="0" y="0"/>
                </a:moveTo>
                <a:lnTo>
                  <a:pt x="6967378" y="0"/>
                </a:lnTo>
                <a:lnTo>
                  <a:pt x="6967378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067550"/>
            <a:ext cx="10020300" cy="1933575"/>
          </a:xfrm>
          <a:custGeom>
            <a:avLst/>
            <a:gdLst/>
            <a:ahLst/>
            <a:cxnLst/>
            <a:rect r="r" b="b" t="t" l="l"/>
            <a:pathLst>
              <a:path h="1933575" w="10020300">
                <a:moveTo>
                  <a:pt x="0" y="0"/>
                </a:moveTo>
                <a:lnTo>
                  <a:pt x="10020300" y="0"/>
                </a:lnTo>
                <a:lnTo>
                  <a:pt x="1002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96112" y="771037"/>
            <a:ext cx="5852160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7"/>
              </a:lnSpc>
            </a:pPr>
            <a:r>
              <a:rPr lang="en-US" sz="3576" b="true">
                <a:solidFill>
                  <a:srgbClr val="002C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Analysis — Scope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33904" y="494730"/>
            <a:ext cx="2406396" cy="1372740"/>
          </a:xfrm>
          <a:custGeom>
            <a:avLst/>
            <a:gdLst/>
            <a:ahLst/>
            <a:cxnLst/>
            <a:rect r="r" b="b" t="t" l="l"/>
            <a:pathLst>
              <a:path h="1372740" w="2406396">
                <a:moveTo>
                  <a:pt x="0" y="0"/>
                </a:moveTo>
                <a:lnTo>
                  <a:pt x="2406396" y="0"/>
                </a:lnTo>
                <a:lnTo>
                  <a:pt x="2406396" y="1372740"/>
                </a:lnTo>
                <a:lnTo>
                  <a:pt x="0" y="137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-20717" r="-12272" b="-250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2571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4290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7700" y="449580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55721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8775" y="25717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199632" y="2698944"/>
            <a:ext cx="3346704" cy="23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Top 10 agents by confirmed bookings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38775" y="3429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99632" y="3753326"/>
            <a:ext cx="2267712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387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Top 10 agents by revenue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438775" y="449580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99632" y="4797492"/>
            <a:ext cx="3090672" cy="23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Repeat guests by market segment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38775" y="5572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199632" y="5800439"/>
            <a:ext cx="3346704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387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Average lead time by market segment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791700" y="2143125"/>
            <a:ext cx="8067675" cy="6648450"/>
          </a:xfrm>
          <a:custGeom>
            <a:avLst/>
            <a:gdLst/>
            <a:ahLst/>
            <a:cxnLst/>
            <a:rect r="r" b="b" t="t" l="l"/>
            <a:pathLst>
              <a:path h="6648450" w="8067675">
                <a:moveTo>
                  <a:pt x="0" y="0"/>
                </a:moveTo>
                <a:lnTo>
                  <a:pt x="8067675" y="0"/>
                </a:lnTo>
                <a:lnTo>
                  <a:pt x="80676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0775" y="2571750"/>
            <a:ext cx="5667375" cy="5143500"/>
          </a:xfrm>
          <a:custGeom>
            <a:avLst/>
            <a:gdLst/>
            <a:ahLst/>
            <a:cxnLst/>
            <a:rect r="r" b="b" t="t" l="l"/>
            <a:pathLst>
              <a:path h="5143500" w="5667375">
                <a:moveTo>
                  <a:pt x="0" y="0"/>
                </a:moveTo>
                <a:lnTo>
                  <a:pt x="5667375" y="0"/>
                </a:lnTo>
                <a:lnTo>
                  <a:pt x="56673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7700" y="9429750"/>
            <a:ext cx="16773525" cy="219075"/>
          </a:xfrm>
          <a:custGeom>
            <a:avLst/>
            <a:gdLst/>
            <a:ahLst/>
            <a:cxnLst/>
            <a:rect r="r" b="b" t="t" l="l"/>
            <a:pathLst>
              <a:path h="219075" w="16773525">
                <a:moveTo>
                  <a:pt x="0" y="0"/>
                </a:moveTo>
                <a:lnTo>
                  <a:pt x="16773525" y="0"/>
                </a:lnTo>
                <a:lnTo>
                  <a:pt x="1677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6112" y="9821114"/>
            <a:ext cx="3913632" cy="22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b="true">
                <a:solidFill>
                  <a:srgbClr val="002C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Hotel Booking Analysis - Data Analytics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90720" y="9817334"/>
            <a:ext cx="201168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2"/>
              </a:lnSpc>
            </a:pPr>
            <a:r>
              <a:rPr lang="en-US" sz="1373" b="true">
                <a:solidFill>
                  <a:srgbClr val="002C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6112" y="528173"/>
            <a:ext cx="1664208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b="true">
                <a:solidFill>
                  <a:srgbClr val="002C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08 - SQL QUERY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5840" y="2667691"/>
            <a:ext cx="91440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7904" y="2698944"/>
            <a:ext cx="2523744" cy="23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Top 10 countries by revenue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60720" y="2667691"/>
            <a:ext cx="146304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5840" y="3727252"/>
            <a:ext cx="146304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7904" y="3758505"/>
            <a:ext cx="2542032" cy="23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Revenue by market segment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60720" y="3727252"/>
            <a:ext cx="164592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5840" y="4766239"/>
            <a:ext cx="146304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17904" y="4792313"/>
            <a:ext cx="2761488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387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Market segment booking share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60720" y="4766239"/>
            <a:ext cx="146304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5840" y="5774365"/>
            <a:ext cx="164592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17904" y="5800439"/>
            <a:ext cx="3529584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387" b="true">
                <a:solidFill>
                  <a:srgbClr val="002C5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Cancellation rate by distribution channel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60720" y="5774365"/>
            <a:ext cx="146304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62150" cy="1285875"/>
          </a:xfrm>
          <a:custGeom>
            <a:avLst/>
            <a:gdLst/>
            <a:ahLst/>
            <a:cxnLst/>
            <a:rect r="r" b="b" t="t" l="l"/>
            <a:pathLst>
              <a:path h="1285875" w="1962150">
                <a:moveTo>
                  <a:pt x="0" y="0"/>
                </a:moveTo>
                <a:lnTo>
                  <a:pt x="1962150" y="0"/>
                </a:lnTo>
                <a:lnTo>
                  <a:pt x="1962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6775" y="0"/>
            <a:ext cx="5019675" cy="428625"/>
          </a:xfrm>
          <a:custGeom>
            <a:avLst/>
            <a:gdLst/>
            <a:ahLst/>
            <a:cxnLst/>
            <a:rect r="r" b="b" t="t" l="l"/>
            <a:pathLst>
              <a:path h="428625" w="5019675">
                <a:moveTo>
                  <a:pt x="0" y="0"/>
                </a:moveTo>
                <a:lnTo>
                  <a:pt x="5019675" y="0"/>
                </a:lnTo>
                <a:lnTo>
                  <a:pt x="5019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8625" y="0"/>
            <a:ext cx="1971675" cy="1285875"/>
          </a:xfrm>
          <a:custGeom>
            <a:avLst/>
            <a:gdLst/>
            <a:ahLst/>
            <a:cxnLst/>
            <a:rect r="r" b="b" t="t" l="l"/>
            <a:pathLst>
              <a:path h="1285875" w="1971675">
                <a:moveTo>
                  <a:pt x="0" y="0"/>
                </a:moveTo>
                <a:lnTo>
                  <a:pt x="1971675" y="0"/>
                </a:lnTo>
                <a:lnTo>
                  <a:pt x="1971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143125"/>
            <a:ext cx="657225" cy="1504950"/>
          </a:xfrm>
          <a:custGeom>
            <a:avLst/>
            <a:gdLst/>
            <a:ahLst/>
            <a:cxnLst/>
            <a:rect r="r" b="b" t="t" l="l"/>
            <a:pathLst>
              <a:path h="1504950" w="657225">
                <a:moveTo>
                  <a:pt x="0" y="0"/>
                </a:moveTo>
                <a:lnTo>
                  <a:pt x="657225" y="0"/>
                </a:lnTo>
                <a:lnTo>
                  <a:pt x="657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2143125"/>
            <a:ext cx="8277225" cy="3429000"/>
          </a:xfrm>
          <a:custGeom>
            <a:avLst/>
            <a:gdLst/>
            <a:ahLst/>
            <a:cxnLst/>
            <a:rect r="r" b="b" t="t" l="l"/>
            <a:pathLst>
              <a:path h="3429000" w="8277225">
                <a:moveTo>
                  <a:pt x="0" y="0"/>
                </a:moveTo>
                <a:lnTo>
                  <a:pt x="8277225" y="0"/>
                </a:lnTo>
                <a:lnTo>
                  <a:pt x="82772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2352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4000" y="3000375"/>
            <a:ext cx="3924300" cy="1504950"/>
          </a:xfrm>
          <a:custGeom>
            <a:avLst/>
            <a:gdLst/>
            <a:ahLst/>
            <a:cxnLst/>
            <a:rect r="r" b="b" t="t" l="l"/>
            <a:pathLst>
              <a:path h="1504950" w="3924300">
                <a:moveTo>
                  <a:pt x="0" y="0"/>
                </a:moveTo>
                <a:lnTo>
                  <a:pt x="3924300" y="0"/>
                </a:lnTo>
                <a:lnTo>
                  <a:pt x="3924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925" y="4495800"/>
            <a:ext cx="7410450" cy="219075"/>
          </a:xfrm>
          <a:custGeom>
            <a:avLst/>
            <a:gdLst/>
            <a:ahLst/>
            <a:cxnLst/>
            <a:rect r="r" b="b" t="t" l="l"/>
            <a:pathLst>
              <a:path h="219075" w="7410450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4925" y="4714875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64132" y="1306449"/>
            <a:ext cx="1027880" cy="586359"/>
          </a:xfrm>
          <a:custGeom>
            <a:avLst/>
            <a:gdLst/>
            <a:ahLst/>
            <a:cxnLst/>
            <a:rect r="r" b="b" t="t" l="l"/>
            <a:pathLst>
              <a:path h="586359" w="1027880">
                <a:moveTo>
                  <a:pt x="0" y="0"/>
                </a:moveTo>
                <a:lnTo>
                  <a:pt x="1027880" y="0"/>
                </a:lnTo>
                <a:lnTo>
                  <a:pt x="1027880" y="586359"/>
                </a:lnTo>
                <a:lnTo>
                  <a:pt x="0" y="5863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500" t="-20717" r="-12272" b="-2509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10775" y="2460505"/>
            <a:ext cx="8085550" cy="7063345"/>
          </a:xfrm>
          <a:custGeom>
            <a:avLst/>
            <a:gdLst/>
            <a:ahLst/>
            <a:cxnLst/>
            <a:rect r="r" b="b" t="t" l="l"/>
            <a:pathLst>
              <a:path h="7063345" w="8085550">
                <a:moveTo>
                  <a:pt x="0" y="0"/>
                </a:moveTo>
                <a:lnTo>
                  <a:pt x="8085550" y="0"/>
                </a:lnTo>
                <a:lnTo>
                  <a:pt x="8085550" y="7063345"/>
                </a:lnTo>
                <a:lnTo>
                  <a:pt x="0" y="70633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1075" y="5638800"/>
            <a:ext cx="8373597" cy="4635384"/>
          </a:xfrm>
          <a:custGeom>
            <a:avLst/>
            <a:gdLst/>
            <a:ahLst/>
            <a:cxnLst/>
            <a:rect r="r" b="b" t="t" l="l"/>
            <a:pathLst>
              <a:path h="4635384" w="8373597">
                <a:moveTo>
                  <a:pt x="0" y="0"/>
                </a:moveTo>
                <a:lnTo>
                  <a:pt x="8373597" y="0"/>
                </a:lnTo>
                <a:lnTo>
                  <a:pt x="8373597" y="4635384"/>
                </a:lnTo>
                <a:lnTo>
                  <a:pt x="0" y="4635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4128" y="374809"/>
            <a:ext cx="1536192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0015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 • SQL QUERY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128" y="641414"/>
            <a:ext cx="824788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2"/>
              </a:lnSpc>
            </a:pPr>
            <a:r>
              <a:rPr lang="en-US" sz="4852" b="true">
                <a:solidFill>
                  <a:srgbClr val="0015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Query 2 • Questions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128" y="1678877"/>
            <a:ext cx="63825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779" b="true">
                <a:solidFill>
                  <a:srgbClr val="0015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Countries &amp; Market Segments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9344" y="4789408"/>
            <a:ext cx="5522976" cy="42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62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Portugal leads country revenue at -$5.54M — a home-market advantage that dwarfs the second-tier European feeder markets.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90720" y="9869710"/>
            <a:ext cx="201168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1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128" y="9873520"/>
            <a:ext cx="3493008" cy="19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Hotel Booking Analysis • Data Analytics 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9344" y="2493931"/>
            <a:ext cx="969264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QUERY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1850" y="0"/>
            <a:ext cx="3486150" cy="3219450"/>
          </a:xfrm>
          <a:custGeom>
            <a:avLst/>
            <a:gdLst/>
            <a:ahLst/>
            <a:cxnLst/>
            <a:rect r="r" b="b" t="t" l="l"/>
            <a:pathLst>
              <a:path h="3219450" w="3486150">
                <a:moveTo>
                  <a:pt x="0" y="0"/>
                </a:moveTo>
                <a:lnTo>
                  <a:pt x="3486150" y="0"/>
                </a:lnTo>
                <a:lnTo>
                  <a:pt x="34861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6775" y="0"/>
            <a:ext cx="2400300" cy="1714500"/>
          </a:xfrm>
          <a:custGeom>
            <a:avLst/>
            <a:gdLst/>
            <a:ahLst/>
            <a:cxnLst/>
            <a:rect r="r" b="b" t="t" l="l"/>
            <a:pathLst>
              <a:path h="1714500" w="2400300">
                <a:moveTo>
                  <a:pt x="0" y="0"/>
                </a:moveTo>
                <a:lnTo>
                  <a:pt x="2400300" y="0"/>
                </a:lnTo>
                <a:lnTo>
                  <a:pt x="2400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2143125"/>
            <a:ext cx="3495675" cy="428625"/>
          </a:xfrm>
          <a:custGeom>
            <a:avLst/>
            <a:gdLst/>
            <a:ahLst/>
            <a:cxnLst/>
            <a:rect r="r" b="b" t="t" l="l"/>
            <a:pathLst>
              <a:path h="428625" w="3495675">
                <a:moveTo>
                  <a:pt x="0" y="0"/>
                </a:moveTo>
                <a:lnTo>
                  <a:pt x="3495675" y="0"/>
                </a:lnTo>
                <a:lnTo>
                  <a:pt x="3495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33850" y="171450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550" y="2781300"/>
            <a:ext cx="8724900" cy="6648450"/>
          </a:xfrm>
          <a:custGeom>
            <a:avLst/>
            <a:gdLst/>
            <a:ahLst/>
            <a:cxnLst/>
            <a:rect r="r" b="b" t="t" l="l"/>
            <a:pathLst>
              <a:path h="6648450" w="8724900">
                <a:moveTo>
                  <a:pt x="0" y="0"/>
                </a:moveTo>
                <a:lnTo>
                  <a:pt x="8724900" y="0"/>
                </a:lnTo>
                <a:lnTo>
                  <a:pt x="8724900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9550" y="2781300"/>
            <a:ext cx="8724900" cy="866775"/>
          </a:xfrm>
          <a:custGeom>
            <a:avLst/>
            <a:gdLst/>
            <a:ahLst/>
            <a:cxnLst/>
            <a:rect r="r" b="b" t="t" l="l"/>
            <a:pathLst>
              <a:path h="866775" w="8724900">
                <a:moveTo>
                  <a:pt x="0" y="0"/>
                </a:moveTo>
                <a:lnTo>
                  <a:pt x="8724900" y="0"/>
                </a:lnTo>
                <a:lnTo>
                  <a:pt x="8724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278130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48625" y="3000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25" y="38576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1328" y="4082665"/>
            <a:ext cx="1993392" cy="27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4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OUTPUT COLUMNS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4925" y="4286250"/>
            <a:ext cx="7410450" cy="857250"/>
          </a:xfrm>
          <a:custGeom>
            <a:avLst/>
            <a:gdLst/>
            <a:ahLst/>
            <a:cxnLst/>
            <a:rect r="r" b="b" t="t" l="l"/>
            <a:pathLst>
              <a:path h="857250" w="7410450">
                <a:moveTo>
                  <a:pt x="0" y="0"/>
                </a:moveTo>
                <a:lnTo>
                  <a:pt x="7410450" y="0"/>
                </a:lnTo>
                <a:lnTo>
                  <a:pt x="7410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8625" y="514350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79392" y="375148"/>
            <a:ext cx="7735824" cy="12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3"/>
              </a:lnSpc>
            </a:pPr>
            <a:r>
              <a:rPr lang="en-US" sz="7174" b="true">
                <a:solidFill>
                  <a:srgbClr val="00235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SQL QUERY 2 • QUESTIONS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97680" y="2065853"/>
            <a:ext cx="5175504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Top countries and market segments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944" y="3040160"/>
            <a:ext cx="347472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1"/>
              </a:lnSpc>
            </a:pPr>
            <a:r>
              <a:rPr lang="en-US" sz="217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1872" y="3039832"/>
            <a:ext cx="3858768" cy="37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14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Revenue by Market Segment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328" y="5314557"/>
            <a:ext cx="1097280" cy="25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514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SQL LOGIC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2768" y="4593550"/>
            <a:ext cx="1627632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market_segment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66160" y="4593550"/>
            <a:ext cx="1389888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total bookings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14416" y="4593550"/>
            <a:ext cx="1335024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total revenue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52944" y="4593550"/>
            <a:ext cx="822960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avg_adj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" y="5961721"/>
            <a:ext cx="731520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SELECT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8800" y="5961721"/>
            <a:ext cx="1828800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market_segment,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6345293"/>
            <a:ext cx="969264" cy="19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8"/>
              </a:lnSpc>
            </a:pPr>
            <a:r>
              <a:rPr lang="en-US" sz="1134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COUNT (*) 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04288" y="6311479"/>
            <a:ext cx="1993392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total bookings,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3584" y="6718935"/>
            <a:ext cx="713232" cy="13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ROUND(SUM)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04288" y="6681811"/>
            <a:ext cx="6144768" cy="76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round * (stays_in_weeknight_nights + stays_in_week_nights), 2)  </a:t>
            </a:r>
            <a:r>
              <a:rPr lang="en-US" sz="147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AS   total_revenue, </a:t>
            </a:r>
          </a:p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ROUND(AVG(adr), 2)  </a:t>
            </a:r>
            <a:r>
              <a:rPr lang="en-US" sz="147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AS  avg_adj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7552" y="7714917"/>
            <a:ext cx="54864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sz="1443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FROM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19072" y="7710511"/>
            <a:ext cx="3712464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dbo.[hotel_bookings_cleanedcsv]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7552" y="8084915"/>
            <a:ext cx="548640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WHERE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9072" y="8060269"/>
            <a:ext cx="1755648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isCanceled = 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7552" y="8414433"/>
            <a:ext cx="969264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sz="1443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GROUP BY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04288" y="8410027"/>
            <a:ext cx="1627632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market_segment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7552" y="8749498"/>
            <a:ext cx="969264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ORDER BY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04288" y="8749498"/>
            <a:ext cx="2048256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total_revenue </a:t>
            </a:r>
            <a:r>
              <a:rPr lang="en-US" sz="147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1471">
                <a:solidFill>
                  <a:srgbClr val="002352"/>
                </a:solidFill>
                <a:latin typeface="Lexend Deca"/>
                <a:ea typeface="Lexend Deca"/>
                <a:cs typeface="Lexend Deca"/>
                <a:sym typeface="Lexend Deca"/>
              </a:rPr>
              <a:t>DESC;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115425" y="2695193"/>
            <a:ext cx="8400297" cy="7338301"/>
          </a:xfrm>
          <a:custGeom>
            <a:avLst/>
            <a:gdLst/>
            <a:ahLst/>
            <a:cxnLst/>
            <a:rect r="r" b="b" t="t" l="l"/>
            <a:pathLst>
              <a:path h="7338301" w="8400297">
                <a:moveTo>
                  <a:pt x="0" y="0"/>
                </a:moveTo>
                <a:lnTo>
                  <a:pt x="8400297" y="0"/>
                </a:lnTo>
                <a:lnTo>
                  <a:pt x="8400297" y="7338300"/>
                </a:lnTo>
                <a:lnTo>
                  <a:pt x="0" y="7338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582775" y="1924050"/>
            <a:ext cx="3705225" cy="1076325"/>
          </a:xfrm>
          <a:custGeom>
            <a:avLst/>
            <a:gdLst/>
            <a:ahLst/>
            <a:cxnLst/>
            <a:rect r="r" b="b" t="t" l="l"/>
            <a:pathLst>
              <a:path h="1076325" w="3705225">
                <a:moveTo>
                  <a:pt x="0" y="0"/>
                </a:moveTo>
                <a:lnTo>
                  <a:pt x="3705225" y="0"/>
                </a:lnTo>
                <a:lnTo>
                  <a:pt x="3705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020" y="131925"/>
            <a:ext cx="18167960" cy="10155075"/>
          </a:xfrm>
          <a:custGeom>
            <a:avLst/>
            <a:gdLst/>
            <a:ahLst/>
            <a:cxnLst/>
            <a:rect r="r" b="b" t="t" l="l"/>
            <a:pathLst>
              <a:path h="10155075" w="18167960">
                <a:moveTo>
                  <a:pt x="0" y="0"/>
                </a:moveTo>
                <a:lnTo>
                  <a:pt x="18167960" y="0"/>
                </a:lnTo>
                <a:lnTo>
                  <a:pt x="18167960" y="10155075"/>
                </a:lnTo>
                <a:lnTo>
                  <a:pt x="0" y="10155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5" t="-1438" r="-785" b="-1003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845"/>
            <a:ext cx="18386867" cy="10229155"/>
          </a:xfrm>
          <a:custGeom>
            <a:avLst/>
            <a:gdLst/>
            <a:ahLst/>
            <a:cxnLst/>
            <a:rect r="r" b="b" t="t" l="l"/>
            <a:pathLst>
              <a:path h="10229155" w="18386867">
                <a:moveTo>
                  <a:pt x="0" y="0"/>
                </a:moveTo>
                <a:lnTo>
                  <a:pt x="18386867" y="0"/>
                </a:lnTo>
                <a:lnTo>
                  <a:pt x="18386867" y="10229155"/>
                </a:lnTo>
                <a:lnTo>
                  <a:pt x="0" y="10229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1" t="-1128" r="-539" b="-638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89620" cy="10287000"/>
          </a:xfrm>
          <a:custGeom>
            <a:avLst/>
            <a:gdLst/>
            <a:ahLst/>
            <a:cxnLst/>
            <a:rect r="r" b="b" t="t" l="l"/>
            <a:pathLst>
              <a:path h="10287000" w="18489620">
                <a:moveTo>
                  <a:pt x="0" y="0"/>
                </a:moveTo>
                <a:lnTo>
                  <a:pt x="18489620" y="0"/>
                </a:lnTo>
                <a:lnTo>
                  <a:pt x="184896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0" t="-827" r="0" b="-144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70830" y="6399887"/>
            <a:ext cx="9104223" cy="3165975"/>
            <a:chOff x="0" y="0"/>
            <a:chExt cx="155378743" cy="540326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378745" cy="54032646"/>
            </a:xfrm>
            <a:custGeom>
              <a:avLst/>
              <a:gdLst/>
              <a:ahLst/>
              <a:cxnLst/>
              <a:rect r="r" b="b" t="t" l="l"/>
              <a:pathLst>
                <a:path h="54032646" w="155378745">
                  <a:moveTo>
                    <a:pt x="0" y="0"/>
                  </a:moveTo>
                  <a:lnTo>
                    <a:pt x="155378745" y="0"/>
                  </a:lnTo>
                  <a:lnTo>
                    <a:pt x="155378745" y="54032646"/>
                  </a:lnTo>
                  <a:lnTo>
                    <a:pt x="0" y="54032646"/>
                  </a:lnTo>
                  <a:close/>
                </a:path>
              </a:pathLst>
            </a:custGeom>
            <a:solidFill>
              <a:srgbClr val="F7F5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155378743" cy="54146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2782"/>
            <a:ext cx="18507928" cy="10024218"/>
          </a:xfrm>
          <a:custGeom>
            <a:avLst/>
            <a:gdLst/>
            <a:ahLst/>
            <a:cxnLst/>
            <a:rect r="r" b="b" t="t" l="l"/>
            <a:pathLst>
              <a:path h="10024218" w="18507928">
                <a:moveTo>
                  <a:pt x="0" y="0"/>
                </a:moveTo>
                <a:lnTo>
                  <a:pt x="18507928" y="0"/>
                </a:lnTo>
                <a:lnTo>
                  <a:pt x="18507928" y="10024218"/>
                </a:lnTo>
                <a:lnTo>
                  <a:pt x="0" y="10024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7" t="0" r="-67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93415" y="2405351"/>
            <a:ext cx="3094020" cy="28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  <a:spcBef>
                <a:spcPct val="0"/>
              </a:spcBef>
            </a:pPr>
            <a:r>
              <a:rPr lang="en-US" sz="1584">
                <a:solidFill>
                  <a:srgbClr val="F6F8FA"/>
                </a:solidFill>
                <a:latin typeface="Roboto"/>
                <a:ea typeface="Roboto"/>
                <a:cs typeface="Roboto"/>
                <a:sym typeface="Roboto"/>
              </a:rPr>
              <a:t>Result — Top 10 agents by revenue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393" y="65963"/>
            <a:ext cx="18466786" cy="10155075"/>
          </a:xfrm>
          <a:custGeom>
            <a:avLst/>
            <a:gdLst/>
            <a:ahLst/>
            <a:cxnLst/>
            <a:rect r="r" b="b" t="t" l="l"/>
            <a:pathLst>
              <a:path h="10155075" w="18466786">
                <a:moveTo>
                  <a:pt x="0" y="0"/>
                </a:moveTo>
                <a:lnTo>
                  <a:pt x="18466786" y="0"/>
                </a:lnTo>
                <a:lnTo>
                  <a:pt x="18466786" y="10155074"/>
                </a:lnTo>
                <a:lnTo>
                  <a:pt x="0" y="1015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2" t="-1299" r="0" b="-1215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29750"/>
            <a:ext cx="18288000" cy="857250"/>
          </a:xfrm>
          <a:custGeom>
            <a:avLst/>
            <a:gdLst/>
            <a:ahLst/>
            <a:cxnLst/>
            <a:rect r="r" b="b" t="t" l="l"/>
            <a:pathLst>
              <a:path h="857250" w="18288000">
                <a:moveTo>
                  <a:pt x="0" y="0"/>
                </a:moveTo>
                <a:lnTo>
                  <a:pt x="18288000" y="0"/>
                </a:lnTo>
                <a:lnTo>
                  <a:pt x="182880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4925" y="0"/>
            <a:ext cx="1962150" cy="1504950"/>
          </a:xfrm>
          <a:custGeom>
            <a:avLst/>
            <a:gdLst/>
            <a:ahLst/>
            <a:cxnLst/>
            <a:rect r="r" b="b" t="t" l="l"/>
            <a:pathLst>
              <a:path h="1504950" w="19621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8175" y="214312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9588" y="1504950"/>
            <a:ext cx="12424759" cy="6898488"/>
          </a:xfrm>
          <a:custGeom>
            <a:avLst/>
            <a:gdLst/>
            <a:ahLst/>
            <a:cxnLst/>
            <a:rect r="r" b="b" t="t" l="l"/>
            <a:pathLst>
              <a:path h="6898488" w="12424759">
                <a:moveTo>
                  <a:pt x="0" y="0"/>
                </a:moveTo>
                <a:lnTo>
                  <a:pt x="12424758" y="0"/>
                </a:lnTo>
                <a:lnTo>
                  <a:pt x="12424758" y="6898488"/>
                </a:lnTo>
                <a:lnTo>
                  <a:pt x="0" y="6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99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1723" y="6249034"/>
            <a:ext cx="7132701" cy="3104415"/>
          </a:xfrm>
          <a:custGeom>
            <a:avLst/>
            <a:gdLst/>
            <a:ahLst/>
            <a:cxnLst/>
            <a:rect r="r" b="b" t="t" l="l"/>
            <a:pathLst>
              <a:path h="3104415" w="7132701">
                <a:moveTo>
                  <a:pt x="0" y="0"/>
                </a:moveTo>
                <a:lnTo>
                  <a:pt x="7132701" y="0"/>
                </a:lnTo>
                <a:lnTo>
                  <a:pt x="7132701" y="3104415"/>
                </a:lnTo>
                <a:lnTo>
                  <a:pt x="0" y="3104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12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864" y="2392013"/>
            <a:ext cx="6799320" cy="3288798"/>
          </a:xfrm>
          <a:custGeom>
            <a:avLst/>
            <a:gdLst/>
            <a:ahLst/>
            <a:cxnLst/>
            <a:rect r="r" b="b" t="t" l="l"/>
            <a:pathLst>
              <a:path h="3288798" w="6799320">
                <a:moveTo>
                  <a:pt x="0" y="0"/>
                </a:moveTo>
                <a:lnTo>
                  <a:pt x="6799320" y="0"/>
                </a:lnTo>
                <a:lnTo>
                  <a:pt x="6799320" y="3288798"/>
                </a:lnTo>
                <a:lnTo>
                  <a:pt x="0" y="32887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39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4174" y="233507"/>
            <a:ext cx="3896392" cy="7715628"/>
          </a:xfrm>
          <a:custGeom>
            <a:avLst/>
            <a:gdLst/>
            <a:ahLst/>
            <a:cxnLst/>
            <a:rect r="r" b="b" t="t" l="l"/>
            <a:pathLst>
              <a:path h="7715628" w="3896392">
                <a:moveTo>
                  <a:pt x="0" y="0"/>
                </a:moveTo>
                <a:lnTo>
                  <a:pt x="3896392" y="0"/>
                </a:lnTo>
                <a:lnTo>
                  <a:pt x="3896392" y="7715628"/>
                </a:lnTo>
                <a:lnTo>
                  <a:pt x="0" y="77156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4556" y="9829800"/>
            <a:ext cx="4315968" cy="2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Hotel Booking Analysis  • Data Analytics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1723" y="2334863"/>
            <a:ext cx="274320" cy="50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9280" y="263424"/>
            <a:ext cx="4590288" cy="136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0"/>
              </a:lnSpc>
            </a:pPr>
            <a:r>
              <a:rPr lang="en-US" b="true" sz="8022">
                <a:solidFill>
                  <a:srgbClr val="002557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SQL QUERY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80529" y="207445"/>
            <a:ext cx="5285232" cy="146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3"/>
              </a:lnSpc>
            </a:pPr>
            <a:r>
              <a:rPr lang="en-US" b="true" sz="8487">
                <a:solidFill>
                  <a:srgbClr val="002557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QUESTIONS 8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8086" y="207708"/>
            <a:ext cx="7197072" cy="8800250"/>
          </a:xfrm>
          <a:custGeom>
            <a:avLst/>
            <a:gdLst/>
            <a:ahLst/>
            <a:cxnLst/>
            <a:rect r="r" b="b" t="t" l="l"/>
            <a:pathLst>
              <a:path h="8800250" w="7197072">
                <a:moveTo>
                  <a:pt x="0" y="0"/>
                </a:moveTo>
                <a:lnTo>
                  <a:pt x="7197072" y="0"/>
                </a:lnTo>
                <a:lnTo>
                  <a:pt x="7197072" y="8800249"/>
                </a:lnTo>
                <a:lnTo>
                  <a:pt x="0" y="8800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0"/>
            <a:ext cx="8061158" cy="10287000"/>
          </a:xfrm>
          <a:custGeom>
            <a:avLst/>
            <a:gdLst/>
            <a:ahLst/>
            <a:cxnLst/>
            <a:rect r="r" b="b" t="t" l="l"/>
            <a:pathLst>
              <a:path h="10287000" w="8061158">
                <a:moveTo>
                  <a:pt x="0" y="0"/>
                </a:moveTo>
                <a:lnTo>
                  <a:pt x="8061158" y="0"/>
                </a:lnTo>
                <a:lnTo>
                  <a:pt x="8061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4354" y="2350377"/>
            <a:ext cx="6103292" cy="6438940"/>
          </a:xfrm>
          <a:custGeom>
            <a:avLst/>
            <a:gdLst/>
            <a:ahLst/>
            <a:cxnLst/>
            <a:rect r="r" b="b" t="t" l="l"/>
            <a:pathLst>
              <a:path h="6438940" w="6103292">
                <a:moveTo>
                  <a:pt x="0" y="0"/>
                </a:moveTo>
                <a:lnTo>
                  <a:pt x="6103292" y="0"/>
                </a:lnTo>
                <a:lnTo>
                  <a:pt x="610329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1116751"/>
            <a:ext cx="3982234" cy="2270476"/>
          </a:xfrm>
          <a:custGeom>
            <a:avLst/>
            <a:gdLst/>
            <a:ahLst/>
            <a:cxnLst/>
            <a:rect r="r" b="b" t="t" l="l"/>
            <a:pathLst>
              <a:path h="2270476" w="3982234">
                <a:moveTo>
                  <a:pt x="0" y="0"/>
                </a:moveTo>
                <a:lnTo>
                  <a:pt x="3982234" y="0"/>
                </a:lnTo>
                <a:lnTo>
                  <a:pt x="3982234" y="2270477"/>
                </a:lnTo>
                <a:lnTo>
                  <a:pt x="0" y="22704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00" t="-20717" r="-12272" b="-250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0704" y="4316319"/>
            <a:ext cx="8211312" cy="148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7"/>
              </a:lnSpc>
            </a:pPr>
            <a:r>
              <a:rPr lang="en-US" b="true" sz="8712" spc="-174">
                <a:solidFill>
                  <a:srgbClr val="0033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WALID NOFAL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5783021"/>
            <a:ext cx="3500096" cy="437279"/>
          </a:xfrm>
          <a:custGeom>
            <a:avLst/>
            <a:gdLst/>
            <a:ahLst/>
            <a:cxnLst/>
            <a:rect r="r" b="b" t="t" l="l"/>
            <a:pathLst>
              <a:path h="437279" w="3500096">
                <a:moveTo>
                  <a:pt x="0" y="0"/>
                </a:moveTo>
                <a:lnTo>
                  <a:pt x="3500096" y="0"/>
                </a:lnTo>
                <a:lnTo>
                  <a:pt x="3500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0704" y="6205226"/>
            <a:ext cx="8266176" cy="62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3706" b="true">
                <a:solidFill>
                  <a:srgbClr val="14528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Marketing Analysis Using Tableau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7707051"/>
            <a:ext cx="1750048" cy="874559"/>
          </a:xfrm>
          <a:custGeom>
            <a:avLst/>
            <a:gdLst/>
            <a:ahLst/>
            <a:cxnLst/>
            <a:rect r="r" b="b" t="t" l="l"/>
            <a:pathLst>
              <a:path h="874559" w="1750048">
                <a:moveTo>
                  <a:pt x="0" y="0"/>
                </a:moveTo>
                <a:lnTo>
                  <a:pt x="1750048" y="0"/>
                </a:lnTo>
                <a:lnTo>
                  <a:pt x="1750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3584" y="7894012"/>
            <a:ext cx="1207008" cy="45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</a:pPr>
            <a:r>
              <a:rPr lang="en-US" b="true" sz="2659">
                <a:solidFill>
                  <a:srgbClr val="14528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 / 06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821952" y="7707051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91840" y="7724031"/>
            <a:ext cx="4718304" cy="84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7"/>
              </a:lnSpc>
            </a:pPr>
            <a:r>
              <a:rPr lang="en-US" sz="2484" b="true">
                <a:solidFill>
                  <a:srgbClr val="0033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From market performance to actionable business insight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MARKETING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Marketing Analysis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476500"/>
            <a:ext cx="3619500" cy="1238250"/>
            <a:chOff x="0" y="0"/>
            <a:chExt cx="4826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826000">
                  <a:moveTo>
                    <a:pt x="26737" y="0"/>
                  </a:moveTo>
                  <a:lnTo>
                    <a:pt x="4799263" y="0"/>
                  </a:lnTo>
                  <a:cubicBezTo>
                    <a:pt x="4814029" y="0"/>
                    <a:pt x="4826000" y="11970"/>
                    <a:pt x="4826000" y="26737"/>
                  </a:cubicBezTo>
                  <a:lnTo>
                    <a:pt x="4826000" y="1624263"/>
                  </a:lnTo>
                  <a:cubicBezTo>
                    <a:pt x="4826000" y="1639030"/>
                    <a:pt x="4814029" y="1651000"/>
                    <a:pt x="4799263" y="1651000"/>
                  </a:cubicBezTo>
                  <a:lnTo>
                    <a:pt x="26737" y="1651000"/>
                  </a:lnTo>
                  <a:cubicBezTo>
                    <a:pt x="11970" y="1651000"/>
                    <a:pt x="0" y="1639030"/>
                    <a:pt x="0" y="1624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6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62500" y="2476500"/>
            <a:ext cx="3619500" cy="1238250"/>
            <a:chOff x="0" y="0"/>
            <a:chExt cx="4826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826000">
                  <a:moveTo>
                    <a:pt x="26737" y="0"/>
                  </a:moveTo>
                  <a:lnTo>
                    <a:pt x="4799263" y="0"/>
                  </a:lnTo>
                  <a:cubicBezTo>
                    <a:pt x="4814029" y="0"/>
                    <a:pt x="4826000" y="11970"/>
                    <a:pt x="4826000" y="26737"/>
                  </a:cubicBezTo>
                  <a:lnTo>
                    <a:pt x="4826000" y="1624263"/>
                  </a:lnTo>
                  <a:cubicBezTo>
                    <a:pt x="4826000" y="1639030"/>
                    <a:pt x="4814029" y="1651000"/>
                    <a:pt x="4799263" y="1651000"/>
                  </a:cubicBezTo>
                  <a:lnTo>
                    <a:pt x="26737" y="1651000"/>
                  </a:lnTo>
                  <a:cubicBezTo>
                    <a:pt x="11970" y="1651000"/>
                    <a:pt x="0" y="1639030"/>
                    <a:pt x="0" y="1624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26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72500" y="2476500"/>
            <a:ext cx="3619500" cy="1238250"/>
            <a:chOff x="0" y="0"/>
            <a:chExt cx="4826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826000">
                  <a:moveTo>
                    <a:pt x="26737" y="0"/>
                  </a:moveTo>
                  <a:lnTo>
                    <a:pt x="4799263" y="0"/>
                  </a:lnTo>
                  <a:cubicBezTo>
                    <a:pt x="4814029" y="0"/>
                    <a:pt x="4826000" y="11970"/>
                    <a:pt x="4826000" y="26737"/>
                  </a:cubicBezTo>
                  <a:lnTo>
                    <a:pt x="4826000" y="1624263"/>
                  </a:lnTo>
                  <a:cubicBezTo>
                    <a:pt x="4826000" y="1639030"/>
                    <a:pt x="4814029" y="1651000"/>
                    <a:pt x="4799263" y="1651000"/>
                  </a:cubicBezTo>
                  <a:lnTo>
                    <a:pt x="26737" y="1651000"/>
                  </a:lnTo>
                  <a:cubicBezTo>
                    <a:pt x="11970" y="1651000"/>
                    <a:pt x="0" y="1639030"/>
                    <a:pt x="0" y="1624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26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3905250"/>
            <a:ext cx="3619500" cy="1238250"/>
            <a:chOff x="0" y="0"/>
            <a:chExt cx="4826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826000">
                  <a:moveTo>
                    <a:pt x="26737" y="0"/>
                  </a:moveTo>
                  <a:lnTo>
                    <a:pt x="4799263" y="0"/>
                  </a:lnTo>
                  <a:cubicBezTo>
                    <a:pt x="4814029" y="0"/>
                    <a:pt x="4826000" y="11970"/>
                    <a:pt x="4826000" y="26737"/>
                  </a:cubicBezTo>
                  <a:lnTo>
                    <a:pt x="4826000" y="1624263"/>
                  </a:lnTo>
                  <a:cubicBezTo>
                    <a:pt x="4826000" y="1639030"/>
                    <a:pt x="4814029" y="1651000"/>
                    <a:pt x="4799263" y="1651000"/>
                  </a:cubicBezTo>
                  <a:lnTo>
                    <a:pt x="26737" y="1651000"/>
                  </a:lnTo>
                  <a:cubicBezTo>
                    <a:pt x="11970" y="1651000"/>
                    <a:pt x="0" y="1639030"/>
                    <a:pt x="0" y="1624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26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62500" y="3905250"/>
            <a:ext cx="3619500" cy="1238250"/>
            <a:chOff x="0" y="0"/>
            <a:chExt cx="4826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826000">
                  <a:moveTo>
                    <a:pt x="26737" y="0"/>
                  </a:moveTo>
                  <a:lnTo>
                    <a:pt x="4799263" y="0"/>
                  </a:lnTo>
                  <a:cubicBezTo>
                    <a:pt x="4814029" y="0"/>
                    <a:pt x="4826000" y="11970"/>
                    <a:pt x="4826000" y="26737"/>
                  </a:cubicBezTo>
                  <a:lnTo>
                    <a:pt x="4826000" y="1624263"/>
                  </a:lnTo>
                  <a:cubicBezTo>
                    <a:pt x="4826000" y="1639030"/>
                    <a:pt x="4814029" y="1651000"/>
                    <a:pt x="4799263" y="1651000"/>
                  </a:cubicBezTo>
                  <a:lnTo>
                    <a:pt x="26737" y="1651000"/>
                  </a:lnTo>
                  <a:cubicBezTo>
                    <a:pt x="11970" y="1651000"/>
                    <a:pt x="0" y="1639030"/>
                    <a:pt x="0" y="1624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26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72500" y="3905250"/>
            <a:ext cx="3619500" cy="1238250"/>
            <a:chOff x="0" y="0"/>
            <a:chExt cx="4826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826000">
                  <a:moveTo>
                    <a:pt x="26737" y="0"/>
                  </a:moveTo>
                  <a:lnTo>
                    <a:pt x="4799263" y="0"/>
                  </a:lnTo>
                  <a:cubicBezTo>
                    <a:pt x="4814029" y="0"/>
                    <a:pt x="4826000" y="11970"/>
                    <a:pt x="4826000" y="26737"/>
                  </a:cubicBezTo>
                  <a:lnTo>
                    <a:pt x="4826000" y="1624263"/>
                  </a:lnTo>
                  <a:cubicBezTo>
                    <a:pt x="4826000" y="1639030"/>
                    <a:pt x="4814029" y="1651000"/>
                    <a:pt x="4799263" y="1651000"/>
                  </a:cubicBezTo>
                  <a:lnTo>
                    <a:pt x="26737" y="1651000"/>
                  </a:lnTo>
                  <a:cubicBezTo>
                    <a:pt x="11970" y="1651000"/>
                    <a:pt x="0" y="1639030"/>
                    <a:pt x="0" y="1624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826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68250" y="2476500"/>
            <a:ext cx="4953000" cy="2857500"/>
            <a:chOff x="0" y="0"/>
            <a:chExt cx="6604000" cy="381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604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3785577"/>
                  </a:lnTo>
                  <a:cubicBezTo>
                    <a:pt x="6604000" y="3792054"/>
                    <a:pt x="6601427" y="3798267"/>
                    <a:pt x="6596847" y="3802847"/>
                  </a:cubicBezTo>
                  <a:cubicBezTo>
                    <a:pt x="6592267" y="3807427"/>
                    <a:pt x="6586055" y="3810000"/>
                    <a:pt x="6579577" y="3810000"/>
                  </a:cubicBezTo>
                  <a:lnTo>
                    <a:pt x="24423" y="3810000"/>
                  </a:lnTo>
                  <a:cubicBezTo>
                    <a:pt x="17946" y="3810000"/>
                    <a:pt x="11734" y="3807427"/>
                    <a:pt x="7153" y="3802847"/>
                  </a:cubicBezTo>
                  <a:cubicBezTo>
                    <a:pt x="2573" y="3798267"/>
                    <a:pt x="0" y="3792054"/>
                    <a:pt x="0" y="3785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604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81100" y="264795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1100" y="295275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Customer Acquisition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91100" y="264795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91100" y="295275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 Segments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01100" y="264795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01100" y="295275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Distribution Channels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1100" y="40767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1100" y="438150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Booking Volume &amp; Revenue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991100" y="40767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91100" y="4381500"/>
            <a:ext cx="3162300" cy="29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Top agents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01100" y="40767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01100" y="438150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Lead Time &amp; Repeat Guests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54000" y="27432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TOOLING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54000" y="3000375"/>
            <a:ext cx="38100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Tableau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54000" y="3686175"/>
            <a:ext cx="438150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8C7D6"/>
                </a:solidFill>
                <a:latin typeface="Inter 1"/>
                <a:ea typeface="Inter 1"/>
                <a:cs typeface="Inter 1"/>
                <a:sym typeface="Inter 1"/>
              </a:rPr>
              <a:t>Chosen for interactive filtering, blended data sources, and complex slicing across segment, channel, and geography.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500" y="2057400"/>
            <a:ext cx="16192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Marketing analysis focuses on how demand is acquired, where it originates, and how efficiently each channel converts to confirmed, revenue-generating stays.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MARKETING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Marketing KPIs &amp; Dimensions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3038475"/>
            <a:ext cx="16383000" cy="9525"/>
            <a:chOff x="0" y="0"/>
            <a:chExt cx="218440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3895725"/>
            <a:ext cx="16383000" cy="9525"/>
            <a:chOff x="0" y="0"/>
            <a:chExt cx="21844000" cy="1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4752975"/>
            <a:ext cx="16383000" cy="9525"/>
            <a:chOff x="0" y="0"/>
            <a:chExt cx="21844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5610225"/>
            <a:ext cx="16383000" cy="9525"/>
            <a:chOff x="0" y="0"/>
            <a:chExt cx="21844000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6467475"/>
            <a:ext cx="16383000" cy="9525"/>
            <a:chOff x="0" y="0"/>
            <a:chExt cx="21844000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7324725"/>
            <a:ext cx="16383000" cy="9525"/>
            <a:chOff x="0" y="0"/>
            <a:chExt cx="218440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8181975"/>
            <a:ext cx="16383000" cy="9525"/>
            <a:chOff x="0" y="0"/>
            <a:chExt cx="218440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43000" y="246697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95500" y="243840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Total Bookings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58000" y="247650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Volume of reservations across the analytic window.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332422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95500" y="329565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58000" y="333375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Realized revenue: nights × ADR on confirmed bookings.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3000" y="418147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95500" y="415290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Average ADR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58000" y="419100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Average Daily Rate — pricing strength per stay.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3000" y="503872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95500" y="501015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Booking Share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58000" y="504825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Segment's proportion of total booking volume.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3000" y="589597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95500" y="586740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Rate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58000" y="590550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Canceled ÷ total, measuring channel risk.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3000" y="675322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95500" y="672465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Average Lead Time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58000" y="676275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Days between booking and arrival.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000" y="761047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95500" y="758190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Repeat Guests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58000" y="7620000"/>
            <a:ext cx="1047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Guests with a prior stay — loyalty signal.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TABLEAU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Dashboard Walkthrough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334500" y="2286000"/>
            <a:ext cx="8001000" cy="6667500"/>
            <a:chOff x="0" y="0"/>
            <a:chExt cx="10668000" cy="889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8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668000">
                  <a:moveTo>
                    <a:pt x="15119" y="0"/>
                  </a:moveTo>
                  <a:lnTo>
                    <a:pt x="10652881" y="0"/>
                  </a:lnTo>
                  <a:cubicBezTo>
                    <a:pt x="10656891" y="0"/>
                    <a:pt x="10660736" y="1593"/>
                    <a:pt x="10663572" y="4428"/>
                  </a:cubicBezTo>
                  <a:cubicBezTo>
                    <a:pt x="10666407" y="7264"/>
                    <a:pt x="10668000" y="11109"/>
                    <a:pt x="10668000" y="15119"/>
                  </a:cubicBezTo>
                  <a:lnTo>
                    <a:pt x="10668000" y="8874881"/>
                  </a:lnTo>
                  <a:cubicBezTo>
                    <a:pt x="10668000" y="8878891"/>
                    <a:pt x="10666407" y="8882736"/>
                    <a:pt x="10663572" y="8885572"/>
                  </a:cubicBezTo>
                  <a:cubicBezTo>
                    <a:pt x="10660736" y="8888407"/>
                    <a:pt x="10656891" y="8890000"/>
                    <a:pt x="10652881" y="8890000"/>
                  </a:cubicBezTo>
                  <a:lnTo>
                    <a:pt x="15119" y="8890000"/>
                  </a:lnTo>
                  <a:cubicBezTo>
                    <a:pt x="11109" y="8890000"/>
                    <a:pt x="7264" y="8888407"/>
                    <a:pt x="4428" y="8885572"/>
                  </a:cubicBezTo>
                  <a:cubicBezTo>
                    <a:pt x="1593" y="8882736"/>
                    <a:pt x="0" y="8878891"/>
                    <a:pt x="0" y="8874881"/>
                  </a:cubicBezTo>
                  <a:lnTo>
                    <a:pt x="0" y="15119"/>
                  </a:lnTo>
                  <a:cubicBezTo>
                    <a:pt x="0" y="11109"/>
                    <a:pt x="1593" y="7264"/>
                    <a:pt x="4428" y="4428"/>
                  </a:cubicBezTo>
                  <a:cubicBezTo>
                    <a:pt x="7264" y="1593"/>
                    <a:pt x="11109" y="0"/>
                    <a:pt x="15119" y="0"/>
                  </a:cubicBezTo>
                  <a:close/>
                </a:path>
              </a:pathLst>
            </a:custGeom>
            <a:solidFill>
              <a:srgbClr val="F6F8FA"/>
            </a:solidFill>
            <a:ln w="19050" cap="sq">
              <a:solidFill>
                <a:srgbClr val="103C6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668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0" y="2476500"/>
            <a:ext cx="7620000" cy="571500"/>
            <a:chOff x="0" y="0"/>
            <a:chExt cx="10160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15500" y="3619500"/>
            <a:ext cx="3619500" cy="2095500"/>
            <a:chOff x="0" y="0"/>
            <a:chExt cx="4826000" cy="279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4826000">
                  <a:moveTo>
                    <a:pt x="20053" y="0"/>
                  </a:moveTo>
                  <a:lnTo>
                    <a:pt x="4805947" y="0"/>
                  </a:lnTo>
                  <a:cubicBezTo>
                    <a:pt x="4817022" y="0"/>
                    <a:pt x="4826000" y="8978"/>
                    <a:pt x="4826000" y="20053"/>
                  </a:cubicBezTo>
                  <a:lnTo>
                    <a:pt x="4826000" y="2773947"/>
                  </a:lnTo>
                  <a:cubicBezTo>
                    <a:pt x="4826000" y="2785022"/>
                    <a:pt x="4817022" y="2794000"/>
                    <a:pt x="4805947" y="2794000"/>
                  </a:cubicBezTo>
                  <a:lnTo>
                    <a:pt x="20053" y="2794000"/>
                  </a:lnTo>
                  <a:cubicBezTo>
                    <a:pt x="8978" y="2794000"/>
                    <a:pt x="0" y="2785022"/>
                    <a:pt x="0" y="27739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26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6000" y="3905250"/>
            <a:ext cx="1905000" cy="190500"/>
            <a:chOff x="0" y="0"/>
            <a:chExt cx="2540000" cy="25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40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06000" y="4210050"/>
            <a:ext cx="1619250" cy="190500"/>
            <a:chOff x="0" y="0"/>
            <a:chExt cx="2159000" cy="25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9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59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06000" y="4514850"/>
            <a:ext cx="1333500" cy="190500"/>
            <a:chOff x="0" y="0"/>
            <a:chExt cx="1778000" cy="25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8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78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06000" y="4819650"/>
            <a:ext cx="1047750" cy="190500"/>
            <a:chOff x="0" y="0"/>
            <a:chExt cx="1397000" cy="25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7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97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06000" y="5124450"/>
            <a:ext cx="762000" cy="190500"/>
            <a:chOff x="0" y="0"/>
            <a:chExt cx="1016000" cy="25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16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525500" y="3619500"/>
            <a:ext cx="3619500" cy="2095500"/>
            <a:chOff x="0" y="0"/>
            <a:chExt cx="4826000" cy="279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6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4826000">
                  <a:moveTo>
                    <a:pt x="20053" y="0"/>
                  </a:moveTo>
                  <a:lnTo>
                    <a:pt x="4805947" y="0"/>
                  </a:lnTo>
                  <a:cubicBezTo>
                    <a:pt x="4817022" y="0"/>
                    <a:pt x="4826000" y="8978"/>
                    <a:pt x="4826000" y="20053"/>
                  </a:cubicBezTo>
                  <a:lnTo>
                    <a:pt x="4826000" y="2773947"/>
                  </a:lnTo>
                  <a:cubicBezTo>
                    <a:pt x="4826000" y="2785022"/>
                    <a:pt x="4817022" y="2794000"/>
                    <a:pt x="4805947" y="2794000"/>
                  </a:cubicBezTo>
                  <a:lnTo>
                    <a:pt x="20053" y="2794000"/>
                  </a:lnTo>
                  <a:cubicBezTo>
                    <a:pt x="8978" y="2794000"/>
                    <a:pt x="0" y="2785022"/>
                    <a:pt x="0" y="27739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826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0" y="3905250"/>
            <a:ext cx="1905000" cy="190500"/>
            <a:chOff x="0" y="0"/>
            <a:chExt cx="2540000" cy="25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540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6000" y="4210050"/>
            <a:ext cx="1619250" cy="190500"/>
            <a:chOff x="0" y="0"/>
            <a:chExt cx="2159000" cy="25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59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59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0" y="4514850"/>
            <a:ext cx="1333500" cy="190500"/>
            <a:chOff x="0" y="0"/>
            <a:chExt cx="1778000" cy="254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78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78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0" y="4819650"/>
            <a:ext cx="1047750" cy="190500"/>
            <a:chOff x="0" y="0"/>
            <a:chExt cx="1397000" cy="25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97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397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16000" y="5124450"/>
            <a:ext cx="762000" cy="190500"/>
            <a:chOff x="0" y="0"/>
            <a:chExt cx="1016000" cy="254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16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15500" y="6191250"/>
            <a:ext cx="3619500" cy="2095500"/>
            <a:chOff x="0" y="0"/>
            <a:chExt cx="4826000" cy="2794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26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4826000">
                  <a:moveTo>
                    <a:pt x="20053" y="0"/>
                  </a:moveTo>
                  <a:lnTo>
                    <a:pt x="4805947" y="0"/>
                  </a:lnTo>
                  <a:cubicBezTo>
                    <a:pt x="4817022" y="0"/>
                    <a:pt x="4826000" y="8978"/>
                    <a:pt x="4826000" y="20053"/>
                  </a:cubicBezTo>
                  <a:lnTo>
                    <a:pt x="4826000" y="2773947"/>
                  </a:lnTo>
                  <a:cubicBezTo>
                    <a:pt x="4826000" y="2785022"/>
                    <a:pt x="4817022" y="2794000"/>
                    <a:pt x="4805947" y="2794000"/>
                  </a:cubicBezTo>
                  <a:lnTo>
                    <a:pt x="20053" y="2794000"/>
                  </a:lnTo>
                  <a:cubicBezTo>
                    <a:pt x="8978" y="2794000"/>
                    <a:pt x="0" y="2785022"/>
                    <a:pt x="0" y="27739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26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06000" y="6477000"/>
            <a:ext cx="1905000" cy="190500"/>
            <a:chOff x="0" y="0"/>
            <a:chExt cx="2540000" cy="254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40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540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06000" y="6781800"/>
            <a:ext cx="1619250" cy="190500"/>
            <a:chOff x="0" y="0"/>
            <a:chExt cx="2159000" cy="254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59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59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06000" y="7086600"/>
            <a:ext cx="1333500" cy="190500"/>
            <a:chOff x="0" y="0"/>
            <a:chExt cx="1778000" cy="254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78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778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906000" y="7391400"/>
            <a:ext cx="1047750" cy="190500"/>
            <a:chOff x="0" y="0"/>
            <a:chExt cx="1397000" cy="254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97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397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06000" y="7696200"/>
            <a:ext cx="762000" cy="190500"/>
            <a:chOff x="0" y="0"/>
            <a:chExt cx="1016000" cy="254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16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25500" y="6191250"/>
            <a:ext cx="3619500" cy="2095500"/>
            <a:chOff x="0" y="0"/>
            <a:chExt cx="4826000" cy="2794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26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4826000">
                  <a:moveTo>
                    <a:pt x="20053" y="0"/>
                  </a:moveTo>
                  <a:lnTo>
                    <a:pt x="4805947" y="0"/>
                  </a:lnTo>
                  <a:cubicBezTo>
                    <a:pt x="4817022" y="0"/>
                    <a:pt x="4826000" y="8978"/>
                    <a:pt x="4826000" y="20053"/>
                  </a:cubicBezTo>
                  <a:lnTo>
                    <a:pt x="4826000" y="2773947"/>
                  </a:lnTo>
                  <a:cubicBezTo>
                    <a:pt x="4826000" y="2785022"/>
                    <a:pt x="4817022" y="2794000"/>
                    <a:pt x="4805947" y="2794000"/>
                  </a:cubicBezTo>
                  <a:lnTo>
                    <a:pt x="20053" y="2794000"/>
                  </a:lnTo>
                  <a:cubicBezTo>
                    <a:pt x="8978" y="2794000"/>
                    <a:pt x="0" y="2785022"/>
                    <a:pt x="0" y="27739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826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16000" y="6477000"/>
            <a:ext cx="1905000" cy="190500"/>
            <a:chOff x="0" y="0"/>
            <a:chExt cx="2540000" cy="254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40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540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16000" y="6781800"/>
            <a:ext cx="1619250" cy="190500"/>
            <a:chOff x="0" y="0"/>
            <a:chExt cx="2159000" cy="254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59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159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716000" y="7086600"/>
            <a:ext cx="1333500" cy="190500"/>
            <a:chOff x="0" y="0"/>
            <a:chExt cx="1778000" cy="254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78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778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16000" y="7391400"/>
            <a:ext cx="1047750" cy="190500"/>
            <a:chOff x="0" y="0"/>
            <a:chExt cx="1397000" cy="254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97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397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716000" y="7696200"/>
            <a:ext cx="762000" cy="190500"/>
            <a:chOff x="0" y="0"/>
            <a:chExt cx="1016000" cy="254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1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16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9715500" y="2647950"/>
            <a:ext cx="7239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MARKETING ANALYSIS DASHBOARD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715500" y="3314700"/>
            <a:ext cx="3619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Country by Revenue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525500" y="3314700"/>
            <a:ext cx="3619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Segment Share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715500" y="5886450"/>
            <a:ext cx="3619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Channel Cancel Rate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525500" y="5886450"/>
            <a:ext cx="3619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Top Agents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952500" y="2286000"/>
            <a:ext cx="571500" cy="571500"/>
            <a:chOff x="0" y="0"/>
            <a:chExt cx="762000" cy="7620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1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52500" y="3524250"/>
            <a:ext cx="571500" cy="571500"/>
            <a:chOff x="0" y="0"/>
            <a:chExt cx="762000" cy="762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2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52500" y="4762500"/>
            <a:ext cx="571500" cy="571500"/>
            <a:chOff x="0" y="0"/>
            <a:chExt cx="762000" cy="7620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3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52500" y="6000750"/>
            <a:ext cx="571500" cy="571500"/>
            <a:chOff x="0" y="0"/>
            <a:chExt cx="762000" cy="7620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4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2500" y="7239000"/>
            <a:ext cx="571500" cy="571500"/>
            <a:chOff x="0" y="0"/>
            <a:chExt cx="762000" cy="7620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5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1809750" y="2276475"/>
            <a:ext cx="6667500" cy="34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Top Country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809750" y="2724150"/>
            <a:ext cx="6667500" cy="20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Revenue and booking counts for top 1 country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809750" y="3514725"/>
            <a:ext cx="666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 Segment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809750" y="3962400"/>
            <a:ext cx="6667500" cy="20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Total Booking share, ADR, and revenue by segment.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809750" y="4752975"/>
            <a:ext cx="666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Distribution Channels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809750" y="5200650"/>
            <a:ext cx="666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Cancellation rate and volume by channel.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809750" y="5991225"/>
            <a:ext cx="666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Agent Performance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809750" y="6438900"/>
            <a:ext cx="666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Top agents by bookings and revenue.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809750" y="7229475"/>
            <a:ext cx="666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Filters &amp; Slicers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809750" y="7677150"/>
            <a:ext cx="666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Date range, hotel, and segment interactivity.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2500" y="1379220"/>
            <a:ext cx="15559107" cy="8907780"/>
          </a:xfrm>
          <a:custGeom>
            <a:avLst/>
            <a:gdLst/>
            <a:ahLst/>
            <a:cxnLst/>
            <a:rect r="r" b="b" t="t" l="l"/>
            <a:pathLst>
              <a:path h="8907780" w="15559107">
                <a:moveTo>
                  <a:pt x="0" y="0"/>
                </a:moveTo>
                <a:lnTo>
                  <a:pt x="15559107" y="0"/>
                </a:lnTo>
                <a:lnTo>
                  <a:pt x="15559107" y="8907780"/>
                </a:lnTo>
                <a:lnTo>
                  <a:pt x="0" y="8907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8" r="0" b="-10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MARKETING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 Segment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08 · TABLEAU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Marketing Dashboard — Findings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190750"/>
            <a:ext cx="5334000" cy="1714500"/>
            <a:chOff x="0" y="0"/>
            <a:chExt cx="7112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263321"/>
                  </a:lnTo>
                  <a:cubicBezTo>
                    <a:pt x="7112000" y="2275847"/>
                    <a:pt x="7101846" y="2286000"/>
                    <a:pt x="7089322" y="2286000"/>
                  </a:cubicBezTo>
                  <a:lnTo>
                    <a:pt x="22679" y="2286000"/>
                  </a:lnTo>
                  <a:cubicBezTo>
                    <a:pt x="10154" y="2286000"/>
                    <a:pt x="0" y="2275847"/>
                    <a:pt x="0" y="2263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1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190750"/>
            <a:ext cx="57150" cy="1714500"/>
            <a:chOff x="0" y="0"/>
            <a:chExt cx="762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7000" y="2190750"/>
            <a:ext cx="5334000" cy="1714500"/>
            <a:chOff x="0" y="0"/>
            <a:chExt cx="7112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263321"/>
                  </a:lnTo>
                  <a:cubicBezTo>
                    <a:pt x="7112000" y="2275847"/>
                    <a:pt x="7101846" y="2286000"/>
                    <a:pt x="7089322" y="2286000"/>
                  </a:cubicBezTo>
                  <a:lnTo>
                    <a:pt x="22679" y="2286000"/>
                  </a:lnTo>
                  <a:cubicBezTo>
                    <a:pt x="10154" y="2286000"/>
                    <a:pt x="0" y="2275847"/>
                    <a:pt x="0" y="2263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1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7000" y="2190750"/>
            <a:ext cx="57150" cy="1714500"/>
            <a:chOff x="0" y="0"/>
            <a:chExt cx="762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0" y="2190750"/>
            <a:ext cx="5334000" cy="1714500"/>
            <a:chOff x="0" y="0"/>
            <a:chExt cx="71120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263321"/>
                  </a:lnTo>
                  <a:cubicBezTo>
                    <a:pt x="7112000" y="2275847"/>
                    <a:pt x="7101846" y="2286000"/>
                    <a:pt x="7089322" y="2286000"/>
                  </a:cubicBezTo>
                  <a:lnTo>
                    <a:pt x="22679" y="2286000"/>
                  </a:lnTo>
                  <a:cubicBezTo>
                    <a:pt x="10154" y="2286000"/>
                    <a:pt x="0" y="2275847"/>
                    <a:pt x="0" y="2263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1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01500" y="2190750"/>
            <a:ext cx="57150" cy="1714500"/>
            <a:chOff x="0" y="0"/>
            <a:chExt cx="762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4095750"/>
            <a:ext cx="5334000" cy="1714500"/>
            <a:chOff x="0" y="0"/>
            <a:chExt cx="7112000" cy="228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1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263321"/>
                  </a:lnTo>
                  <a:cubicBezTo>
                    <a:pt x="7112000" y="2275847"/>
                    <a:pt x="7101846" y="2286000"/>
                    <a:pt x="7089322" y="2286000"/>
                  </a:cubicBezTo>
                  <a:lnTo>
                    <a:pt x="22679" y="2286000"/>
                  </a:lnTo>
                  <a:cubicBezTo>
                    <a:pt x="10154" y="2286000"/>
                    <a:pt x="0" y="2275847"/>
                    <a:pt x="0" y="2263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1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095750"/>
            <a:ext cx="57150" cy="1714500"/>
            <a:chOff x="0" y="0"/>
            <a:chExt cx="76200" cy="228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77000" y="4095750"/>
            <a:ext cx="5334000" cy="1714500"/>
            <a:chOff x="0" y="0"/>
            <a:chExt cx="7112000" cy="228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1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263321"/>
                  </a:lnTo>
                  <a:cubicBezTo>
                    <a:pt x="7112000" y="2275847"/>
                    <a:pt x="7101846" y="2286000"/>
                    <a:pt x="7089322" y="2286000"/>
                  </a:cubicBezTo>
                  <a:lnTo>
                    <a:pt x="22679" y="2286000"/>
                  </a:lnTo>
                  <a:cubicBezTo>
                    <a:pt x="10154" y="2286000"/>
                    <a:pt x="0" y="2275847"/>
                    <a:pt x="0" y="2263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11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77000" y="4095750"/>
            <a:ext cx="57150" cy="1714500"/>
            <a:chOff x="0" y="0"/>
            <a:chExt cx="76200" cy="228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01500" y="4095750"/>
            <a:ext cx="5334000" cy="1714500"/>
            <a:chOff x="0" y="0"/>
            <a:chExt cx="7112000" cy="2286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1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263321"/>
                  </a:lnTo>
                  <a:cubicBezTo>
                    <a:pt x="7112000" y="2275847"/>
                    <a:pt x="7101846" y="2286000"/>
                    <a:pt x="7089322" y="2286000"/>
                  </a:cubicBezTo>
                  <a:lnTo>
                    <a:pt x="22679" y="2286000"/>
                  </a:lnTo>
                  <a:cubicBezTo>
                    <a:pt x="10154" y="2286000"/>
                    <a:pt x="0" y="2275847"/>
                    <a:pt x="0" y="2263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11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01500" y="4095750"/>
            <a:ext cx="57150" cy="1714500"/>
            <a:chOff x="0" y="0"/>
            <a:chExt cx="76200" cy="2286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38250" y="25241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Portugal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8250" y="3209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Top country by revenue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62750" y="25241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Online TA · 47.78%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762750" y="3209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Largest booking share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87250" y="25241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TA/TO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87250" y="3209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Highest cancellation rate channel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8250" y="44291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Agent 9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8250" y="5114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Top agent by bookings &amp; revenue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762750" y="44291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Groups · 186.7d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62750" y="5114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Longest avg lead time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87250" y="44291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Corporate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287250" y="5114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Highest repeat-guest concentration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2500" y="6248400"/>
            <a:ext cx="163830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The Tableau dashboard surfaces market segment booking share, channel cancellation risk, agent performance rankings, average lead time by segment, and repeat-guest concentration — all filterable by date, hotel, and segment.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18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MARKETING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Marketing Insights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3514725"/>
            <a:ext cx="16383000" cy="9525"/>
            <a:chOff x="0" y="0"/>
            <a:chExt cx="218440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4943475"/>
            <a:ext cx="16383000" cy="9525"/>
            <a:chOff x="0" y="0"/>
            <a:chExt cx="21844000" cy="1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6372225"/>
            <a:ext cx="16383000" cy="9525"/>
            <a:chOff x="0" y="0"/>
            <a:chExt cx="21844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7800975"/>
            <a:ext cx="16383000" cy="9525"/>
            <a:chOff x="0" y="0"/>
            <a:chExt cx="21844000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3000" y="2266950"/>
            <a:ext cx="1905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000" y="24765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Portugal is the top revenue country (~$5.54M).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226695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INTERPRETATION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0" y="2495550"/>
            <a:ext cx="809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Home market dominates; secondary EU markets are dispersed.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000" y="3695700"/>
            <a:ext cx="1905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00" y="390525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Online TA holds ~47.78% booking share.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369570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INTERPRETATION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0" y="3924300"/>
            <a:ext cx="809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OTA reliance concentrates channel risk; direct share is smaller.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3000" y="5124450"/>
            <a:ext cx="1905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53340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Lead time varies from ~5 days (Aviation) to ~187 days (Groups).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512445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INTERPRETATION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0" y="5353050"/>
            <a:ext cx="809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Segments differ in planning horizon; pricing windows must adapt.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6553200"/>
            <a:ext cx="1905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" y="676275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rates diverge by distribution channel.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655320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INTERPRETATION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6781800"/>
            <a:ext cx="809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Channel-specific policies (deposits, cutoffs) should be re-evaluated.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92550" y="244793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49"/>
                </a:lnTo>
                <a:lnTo>
                  <a:pt x="0" y="857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2500" y="1549426"/>
            <a:ext cx="6148437" cy="8318474"/>
          </a:xfrm>
          <a:custGeom>
            <a:avLst/>
            <a:gdLst/>
            <a:ahLst/>
            <a:cxnLst/>
            <a:rect r="r" b="b" t="t" l="l"/>
            <a:pathLst>
              <a:path h="8318474" w="6148437">
                <a:moveTo>
                  <a:pt x="0" y="0"/>
                </a:moveTo>
                <a:lnTo>
                  <a:pt x="6148437" y="0"/>
                </a:lnTo>
                <a:lnTo>
                  <a:pt x="6148437" y="8318474"/>
                </a:lnTo>
                <a:lnTo>
                  <a:pt x="0" y="8318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108742"/>
            <a:ext cx="9304472" cy="9378738"/>
          </a:xfrm>
          <a:custGeom>
            <a:avLst/>
            <a:gdLst/>
            <a:ahLst/>
            <a:cxnLst/>
            <a:rect r="r" b="b" t="t" l="l"/>
            <a:pathLst>
              <a:path h="9378738" w="9304472">
                <a:moveTo>
                  <a:pt x="0" y="0"/>
                </a:moveTo>
                <a:lnTo>
                  <a:pt x="9304472" y="0"/>
                </a:lnTo>
                <a:lnTo>
                  <a:pt x="9304472" y="9378738"/>
                </a:lnTo>
                <a:lnTo>
                  <a:pt x="0" y="937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256413" y="4906059"/>
            <a:ext cx="1823207" cy="802604"/>
            <a:chOff x="0" y="0"/>
            <a:chExt cx="1071840" cy="4718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840" cy="471841"/>
            </a:xfrm>
            <a:custGeom>
              <a:avLst/>
              <a:gdLst/>
              <a:ahLst/>
              <a:cxnLst/>
              <a:rect r="r" b="b" t="t" l="l"/>
              <a:pathLst>
                <a:path h="471841" w="1071840">
                  <a:moveTo>
                    <a:pt x="1071840" y="235920"/>
                  </a:moveTo>
                  <a:lnTo>
                    <a:pt x="665440" y="0"/>
                  </a:lnTo>
                  <a:lnTo>
                    <a:pt x="665440" y="203200"/>
                  </a:lnTo>
                  <a:lnTo>
                    <a:pt x="0" y="203200"/>
                  </a:lnTo>
                  <a:lnTo>
                    <a:pt x="0" y="268641"/>
                  </a:lnTo>
                  <a:lnTo>
                    <a:pt x="665440" y="268641"/>
                  </a:lnTo>
                  <a:lnTo>
                    <a:pt x="665440" y="471841"/>
                  </a:lnTo>
                  <a:lnTo>
                    <a:pt x="1071840" y="235920"/>
                  </a:lnTo>
                  <a:close/>
                </a:path>
              </a:pathLst>
            </a:custGeom>
            <a:solidFill>
              <a:srgbClr val="0D743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970240" cy="103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Excel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866775"/>
            <a:ext cx="14287500" cy="51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Power Query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24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45247" y="5146090"/>
            <a:ext cx="2120039" cy="802604"/>
            <a:chOff x="0" y="0"/>
            <a:chExt cx="1246344" cy="4718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6344" cy="471841"/>
            </a:xfrm>
            <a:custGeom>
              <a:avLst/>
              <a:gdLst/>
              <a:ahLst/>
              <a:cxnLst/>
              <a:rect r="r" b="b" t="t" l="l"/>
              <a:pathLst>
                <a:path h="471841" w="1246344">
                  <a:moveTo>
                    <a:pt x="1246344" y="235920"/>
                  </a:moveTo>
                  <a:lnTo>
                    <a:pt x="839944" y="0"/>
                  </a:lnTo>
                  <a:lnTo>
                    <a:pt x="839944" y="203200"/>
                  </a:lnTo>
                  <a:lnTo>
                    <a:pt x="0" y="203200"/>
                  </a:lnTo>
                  <a:lnTo>
                    <a:pt x="0" y="268641"/>
                  </a:lnTo>
                  <a:lnTo>
                    <a:pt x="839944" y="268641"/>
                  </a:lnTo>
                  <a:lnTo>
                    <a:pt x="839944" y="471841"/>
                  </a:lnTo>
                  <a:lnTo>
                    <a:pt x="1246344" y="235920"/>
                  </a:lnTo>
                  <a:close/>
                </a:path>
              </a:pathLst>
            </a:custGeom>
            <a:solidFill>
              <a:srgbClr val="0D743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1144744" cy="103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52500" y="1445959"/>
            <a:ext cx="6496776" cy="8675573"/>
          </a:xfrm>
          <a:custGeom>
            <a:avLst/>
            <a:gdLst/>
            <a:ahLst/>
            <a:cxnLst/>
            <a:rect r="r" b="b" t="t" l="l"/>
            <a:pathLst>
              <a:path h="8675573" w="6496776">
                <a:moveTo>
                  <a:pt x="0" y="0"/>
                </a:moveTo>
                <a:lnTo>
                  <a:pt x="6496776" y="0"/>
                </a:lnTo>
                <a:lnTo>
                  <a:pt x="6496776" y="8675574"/>
                </a:lnTo>
                <a:lnTo>
                  <a:pt x="0" y="8675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33396" y="1333500"/>
            <a:ext cx="3122741" cy="8747555"/>
          </a:xfrm>
          <a:custGeom>
            <a:avLst/>
            <a:gdLst/>
            <a:ahLst/>
            <a:cxnLst/>
            <a:rect r="r" b="b" t="t" l="l"/>
            <a:pathLst>
              <a:path h="8747555" w="3122741">
                <a:moveTo>
                  <a:pt x="0" y="0"/>
                </a:moveTo>
                <a:lnTo>
                  <a:pt x="3122741" y="0"/>
                </a:lnTo>
                <a:lnTo>
                  <a:pt x="3122741" y="8747555"/>
                </a:lnTo>
                <a:lnTo>
                  <a:pt x="0" y="874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09 · Excel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866775"/>
            <a:ext cx="14287500" cy="51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Power Query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1818" y="0"/>
            <a:ext cx="8936182" cy="10287000"/>
          </a:xfrm>
          <a:custGeom>
            <a:avLst/>
            <a:gdLst/>
            <a:ahLst/>
            <a:cxnLst/>
            <a:rect r="r" b="b" t="t" l="l"/>
            <a:pathLst>
              <a:path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661049"/>
            <a:ext cx="3718852" cy="2120309"/>
          </a:xfrm>
          <a:custGeom>
            <a:avLst/>
            <a:gdLst/>
            <a:ahLst/>
            <a:cxnLst/>
            <a:rect r="r" b="b" t="t" l="l"/>
            <a:pathLst>
              <a:path h="2120309" w="3718852">
                <a:moveTo>
                  <a:pt x="0" y="0"/>
                </a:moveTo>
                <a:lnTo>
                  <a:pt x="3718852" y="0"/>
                </a:lnTo>
                <a:lnTo>
                  <a:pt x="3718852" y="2120308"/>
                </a:lnTo>
                <a:lnTo>
                  <a:pt x="0" y="2120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00" t="-20717" r="-12272" b="-2509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7824" y="3817895"/>
            <a:ext cx="9985248" cy="148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32"/>
              </a:lnSpc>
            </a:pPr>
            <a:r>
              <a:rPr lang="en-US" sz="8666" b="true">
                <a:solidFill>
                  <a:srgbClr val="0023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HANA MOHAMED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5356674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7824" y="5859742"/>
            <a:ext cx="8814816" cy="50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>
                <a:solidFill>
                  <a:srgbClr val="145285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SQL Query 3 • Cancellation Analysis + Power BI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6635716"/>
            <a:ext cx="2843828" cy="1300906"/>
          </a:xfrm>
          <a:custGeom>
            <a:avLst/>
            <a:gdLst/>
            <a:ahLst/>
            <a:cxnLst/>
            <a:rect r="r" b="b" t="t" l="l"/>
            <a:pathLst>
              <a:path h="1300906" w="2843828">
                <a:moveTo>
                  <a:pt x="0" y="0"/>
                </a:moveTo>
                <a:lnTo>
                  <a:pt x="2843828" y="0"/>
                </a:lnTo>
                <a:lnTo>
                  <a:pt x="284382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842" y="7062064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0708" y="6635716"/>
            <a:ext cx="885962" cy="1300906"/>
          </a:xfrm>
          <a:custGeom>
            <a:avLst/>
            <a:gdLst/>
            <a:ahLst/>
            <a:cxnLst/>
            <a:rect r="r" b="b" t="t" l="l"/>
            <a:pathLst>
              <a:path h="1300906" w="885962">
                <a:moveTo>
                  <a:pt x="0" y="0"/>
                </a:moveTo>
                <a:lnTo>
                  <a:pt x="885962" y="0"/>
                </a:lnTo>
                <a:lnTo>
                  <a:pt x="885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7824" y="8439927"/>
            <a:ext cx="7132320" cy="38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>
                <a:solidFill>
                  <a:srgbClr val="0023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From cancellation patterns to operational insight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320622" y="4493047"/>
            <a:ext cx="6759560" cy="4514911"/>
          </a:xfrm>
          <a:custGeom>
            <a:avLst/>
            <a:gdLst/>
            <a:ahLst/>
            <a:cxnLst/>
            <a:rect r="r" b="b" t="t" l="l"/>
            <a:pathLst>
              <a:path h="4514911" w="6759560">
                <a:moveTo>
                  <a:pt x="0" y="0"/>
                </a:moveTo>
                <a:lnTo>
                  <a:pt x="6759560" y="0"/>
                </a:lnTo>
                <a:lnTo>
                  <a:pt x="675956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10 · SQL QUERY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Analysis —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476250" cy="476250"/>
            <a:chOff x="0" y="0"/>
            <a:chExt cx="635000" cy="63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3143250"/>
            <a:ext cx="476250" cy="476250"/>
            <a:chOff x="0" y="0"/>
            <a:chExt cx="635000" cy="63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4000500"/>
            <a:ext cx="476250" cy="476250"/>
            <a:chOff x="0" y="0"/>
            <a:chExt cx="635000" cy="63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4857750"/>
            <a:ext cx="476250" cy="476250"/>
            <a:chOff x="0" y="0"/>
            <a:chExt cx="635000" cy="63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5715000"/>
            <a:ext cx="476250" cy="476250"/>
            <a:chOff x="0" y="0"/>
            <a:chExt cx="635000" cy="63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58250" y="2286000"/>
            <a:ext cx="476250" cy="476250"/>
            <a:chOff x="0" y="0"/>
            <a:chExt cx="635000" cy="63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58250" y="3143250"/>
            <a:ext cx="476250" cy="476250"/>
            <a:chOff x="0" y="0"/>
            <a:chExt cx="635000" cy="63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58250" y="4000500"/>
            <a:ext cx="476250" cy="476250"/>
            <a:chOff x="0" y="0"/>
            <a:chExt cx="635000" cy="635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8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858250" y="4857750"/>
            <a:ext cx="476250" cy="476250"/>
            <a:chOff x="0" y="0"/>
            <a:chExt cx="635000" cy="63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2500" y="8096250"/>
            <a:ext cx="16383000" cy="1238250"/>
            <a:chOff x="0" y="0"/>
            <a:chExt cx="21844000" cy="165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84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1844000">
                  <a:moveTo>
                    <a:pt x="7384" y="0"/>
                  </a:moveTo>
                  <a:lnTo>
                    <a:pt x="21836616" y="0"/>
                  </a:lnTo>
                  <a:cubicBezTo>
                    <a:pt x="21840695" y="0"/>
                    <a:pt x="21844000" y="3306"/>
                    <a:pt x="21844000" y="7384"/>
                  </a:cubicBezTo>
                  <a:lnTo>
                    <a:pt x="21844000" y="1643616"/>
                  </a:lnTo>
                  <a:cubicBezTo>
                    <a:pt x="21844000" y="1647694"/>
                    <a:pt x="21840695" y="1651000"/>
                    <a:pt x="21836616" y="1651000"/>
                  </a:cubicBezTo>
                  <a:lnTo>
                    <a:pt x="7384" y="1651000"/>
                  </a:lnTo>
                  <a:cubicBezTo>
                    <a:pt x="3306" y="1651000"/>
                    <a:pt x="0" y="1647694"/>
                    <a:pt x="0" y="1643616"/>
                  </a:cubicBezTo>
                  <a:lnTo>
                    <a:pt x="0" y="7384"/>
                  </a:lnTo>
                  <a:cubicBezTo>
                    <a:pt x="0" y="3306"/>
                    <a:pt x="3306" y="0"/>
                    <a:pt x="7384" y="0"/>
                  </a:cubicBez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844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33500" y="8362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WHY IT MATTERS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3500" y="8610600"/>
            <a:ext cx="15621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Cancellations sit at 37.5% and translate to $16.72M in lost revenue — the single largest lever for revenue recovery and forecasting accuracy.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9250" y="23622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Cancellation rate by lead time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19250" y="321945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Cancellation by deposit type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19250" y="40767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By room type changes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19250" y="493395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By arrival month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19250" y="57912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Special requests vs cancellation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25000" y="23622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Previous cancellation history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25000" y="321945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Booking changes vs cancellation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25000" y="407670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Total bookings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25000" y="4933950"/>
            <a:ext cx="723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Overall cancellation rate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25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10 · SQL QUERY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by Lead Time &amp; Deposit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7810500" cy="2476500"/>
            <a:chOff x="0" y="0"/>
            <a:chExt cx="10414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414000">
                  <a:moveTo>
                    <a:pt x="12390" y="0"/>
                  </a:moveTo>
                  <a:lnTo>
                    <a:pt x="10401610" y="0"/>
                  </a:lnTo>
                  <a:cubicBezTo>
                    <a:pt x="10408453" y="0"/>
                    <a:pt x="10414000" y="5547"/>
                    <a:pt x="10414000" y="12390"/>
                  </a:cubicBezTo>
                  <a:lnTo>
                    <a:pt x="10414000" y="3289610"/>
                  </a:lnTo>
                  <a:cubicBezTo>
                    <a:pt x="10414000" y="3296453"/>
                    <a:pt x="10408453" y="3302000"/>
                    <a:pt x="10401610" y="3302000"/>
                  </a:cubicBezTo>
                  <a:lnTo>
                    <a:pt x="12390" y="3302000"/>
                  </a:lnTo>
                  <a:cubicBezTo>
                    <a:pt x="5547" y="3302000"/>
                    <a:pt x="0" y="3296453"/>
                    <a:pt x="0" y="3289610"/>
                  </a:cubicBezTo>
                  <a:lnTo>
                    <a:pt x="0" y="12390"/>
                  </a:lnTo>
                  <a:cubicBezTo>
                    <a:pt x="0" y="5547"/>
                    <a:pt x="5547" y="0"/>
                    <a:pt x="12390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428875"/>
            <a:ext cx="735330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CASE WHEN lead_time&lt;=7 THEN '0-7'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WHEN lead_time&lt;=30 THEN '8-30'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WHEN lead_time&lt;=90 THEN '31-90'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ELSE '90+' END AS lead_bucket,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AVG(CAST(is_canceled AS FLOAT))*100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AS cancel_rate_pct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1;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930" y="4214606"/>
            <a:ext cx="9263640" cy="5858289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574263" y="1532966"/>
            <a:ext cx="9521473" cy="8554569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26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10 · SQL QUERY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Room Change · Arrival Month · Special Requests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7810500" cy="2286000"/>
            <a:chOff x="0" y="0"/>
            <a:chExt cx="10414000" cy="304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414000">
                  <a:moveTo>
                    <a:pt x="12390" y="0"/>
                  </a:moveTo>
                  <a:lnTo>
                    <a:pt x="10401610" y="0"/>
                  </a:lnTo>
                  <a:cubicBezTo>
                    <a:pt x="10408453" y="0"/>
                    <a:pt x="10414000" y="5547"/>
                    <a:pt x="10414000" y="12390"/>
                  </a:cubicBezTo>
                  <a:lnTo>
                    <a:pt x="10414000" y="3035610"/>
                  </a:lnTo>
                  <a:cubicBezTo>
                    <a:pt x="10414000" y="3042453"/>
                    <a:pt x="10408453" y="3048000"/>
                    <a:pt x="10401610" y="3048000"/>
                  </a:cubicBezTo>
                  <a:lnTo>
                    <a:pt x="12390" y="3048000"/>
                  </a:lnTo>
                  <a:cubicBezTo>
                    <a:pt x="5547" y="3048000"/>
                    <a:pt x="0" y="3042453"/>
                    <a:pt x="0" y="3035610"/>
                  </a:cubicBezTo>
                  <a:lnTo>
                    <a:pt x="0" y="12390"/>
                  </a:lnTo>
                  <a:cubicBezTo>
                    <a:pt x="0" y="5547"/>
                    <a:pt x="5547" y="0"/>
                    <a:pt x="12390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428875"/>
            <a:ext cx="7353300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arrival_date_month,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SUM(CAST(is_canceled AS INT)) AS canceled,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AVG(CAST(is_canceled AS FLOAT))*100 AS rate_pct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hotel_bookings_cleaned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arrival_date_month;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930" y="4025296"/>
            <a:ext cx="9263640" cy="6046408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20057" y="1516114"/>
            <a:ext cx="9229885" cy="4968773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489404" y="5126863"/>
            <a:ext cx="9691193" cy="4986275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27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10 · SQL QUERY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Previous Cancellations &amp; Booking Changes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095500"/>
            <a:ext cx="3810000" cy="1333500"/>
            <a:chOff x="0" y="0"/>
            <a:chExt cx="5080000" cy="1778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80000" cy="1778000"/>
              <a:chOff x="0" y="0"/>
              <a:chExt cx="5080000" cy="1778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080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080000">
                    <a:moveTo>
                      <a:pt x="19050" y="0"/>
                    </a:moveTo>
                    <a:lnTo>
                      <a:pt x="5060950" y="0"/>
                    </a:lnTo>
                    <a:cubicBezTo>
                      <a:pt x="5071471" y="0"/>
                      <a:pt x="5080000" y="8529"/>
                      <a:pt x="5080000" y="19050"/>
                    </a:cubicBezTo>
                    <a:lnTo>
                      <a:pt x="5080000" y="1758950"/>
                    </a:lnTo>
                    <a:cubicBezTo>
                      <a:pt x="5080000" y="1769471"/>
                      <a:pt x="5071471" y="1778000"/>
                      <a:pt x="5060950" y="1778000"/>
                    </a:cubicBezTo>
                    <a:lnTo>
                      <a:pt x="19050" y="1778000"/>
                    </a:lnTo>
                    <a:cubicBezTo>
                      <a:pt x="8529" y="1778000"/>
                      <a:pt x="0" y="1769471"/>
                      <a:pt x="0" y="1758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080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50800" cy="1778000"/>
              <a:chOff x="0" y="0"/>
              <a:chExt cx="50800" cy="1778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08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08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04800" y="212725"/>
              <a:ext cx="44704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117,398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04800" y="1250950"/>
              <a:ext cx="44704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TOTAL BOOKINGS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53000" y="2095500"/>
            <a:ext cx="3810000" cy="1333500"/>
            <a:chOff x="0" y="0"/>
            <a:chExt cx="5080000" cy="1778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080000" cy="1778000"/>
              <a:chOff x="0" y="0"/>
              <a:chExt cx="5080000" cy="1778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080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080000">
                    <a:moveTo>
                      <a:pt x="19050" y="0"/>
                    </a:moveTo>
                    <a:lnTo>
                      <a:pt x="5060950" y="0"/>
                    </a:lnTo>
                    <a:cubicBezTo>
                      <a:pt x="5071471" y="0"/>
                      <a:pt x="5080000" y="8529"/>
                      <a:pt x="5080000" y="19050"/>
                    </a:cubicBezTo>
                    <a:lnTo>
                      <a:pt x="5080000" y="1758950"/>
                    </a:lnTo>
                    <a:cubicBezTo>
                      <a:pt x="5080000" y="1769471"/>
                      <a:pt x="5071471" y="1778000"/>
                      <a:pt x="5060950" y="1778000"/>
                    </a:cubicBezTo>
                    <a:lnTo>
                      <a:pt x="19050" y="1778000"/>
                    </a:lnTo>
                    <a:cubicBezTo>
                      <a:pt x="8529" y="1778000"/>
                      <a:pt x="0" y="1769471"/>
                      <a:pt x="0" y="1758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080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50800" cy="1778000"/>
              <a:chOff x="0" y="0"/>
              <a:chExt cx="50800" cy="1778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08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508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4800" y="212725"/>
              <a:ext cx="44704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44,020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04800" y="1250950"/>
              <a:ext cx="44704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CANCELLATIONS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53500" y="2095500"/>
            <a:ext cx="3810000" cy="1333500"/>
            <a:chOff x="0" y="0"/>
            <a:chExt cx="5080000" cy="1778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080000" cy="1778000"/>
              <a:chOff x="0" y="0"/>
              <a:chExt cx="5080000" cy="1778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080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080000">
                    <a:moveTo>
                      <a:pt x="19050" y="0"/>
                    </a:moveTo>
                    <a:lnTo>
                      <a:pt x="5060950" y="0"/>
                    </a:lnTo>
                    <a:cubicBezTo>
                      <a:pt x="5071471" y="0"/>
                      <a:pt x="5080000" y="8529"/>
                      <a:pt x="5080000" y="19050"/>
                    </a:cubicBezTo>
                    <a:lnTo>
                      <a:pt x="5080000" y="1758950"/>
                    </a:lnTo>
                    <a:cubicBezTo>
                      <a:pt x="5080000" y="1769471"/>
                      <a:pt x="5071471" y="1778000"/>
                      <a:pt x="5060950" y="1778000"/>
                    </a:cubicBezTo>
                    <a:lnTo>
                      <a:pt x="19050" y="1778000"/>
                    </a:lnTo>
                    <a:cubicBezTo>
                      <a:pt x="8529" y="1778000"/>
                      <a:pt x="0" y="1769471"/>
                      <a:pt x="0" y="1758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080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50800" cy="1778000"/>
              <a:chOff x="0" y="0"/>
              <a:chExt cx="50800" cy="1778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08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508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04800" y="212725"/>
              <a:ext cx="44704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B54708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37.5%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04800" y="1250950"/>
              <a:ext cx="44704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OVERALL CANCEL RATE</a:t>
              </a:r>
            </a:p>
          </p:txBody>
        </p:sp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8865" y="3049473"/>
            <a:ext cx="9257768" cy="6855053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28170" y="3022194"/>
            <a:ext cx="9413659" cy="6909611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28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445895"/>
            <a:ext cx="14729731" cy="8718466"/>
          </a:xfrm>
          <a:custGeom>
            <a:avLst/>
            <a:gdLst/>
            <a:ahLst/>
            <a:cxnLst/>
            <a:rect r="r" b="b" t="t" l="l"/>
            <a:pathLst>
              <a:path h="8718466" w="14729731">
                <a:moveTo>
                  <a:pt x="0" y="0"/>
                </a:moveTo>
                <a:lnTo>
                  <a:pt x="14729731" y="0"/>
                </a:lnTo>
                <a:lnTo>
                  <a:pt x="14729731" y="8718466"/>
                </a:lnTo>
                <a:lnTo>
                  <a:pt x="0" y="8718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10 · POWER BI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&amp; Booking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29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10 · SQL QUERY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Insights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095500"/>
            <a:ext cx="16383000" cy="1428750"/>
            <a:chOff x="0" y="0"/>
            <a:chExt cx="21844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5907" y="0"/>
                  </a:moveTo>
                  <a:lnTo>
                    <a:pt x="21838093" y="0"/>
                  </a:lnTo>
                  <a:cubicBezTo>
                    <a:pt x="21841355" y="0"/>
                    <a:pt x="21844000" y="2645"/>
                    <a:pt x="21844000" y="5907"/>
                  </a:cubicBezTo>
                  <a:lnTo>
                    <a:pt x="21844000" y="1899093"/>
                  </a:lnTo>
                  <a:cubicBezTo>
                    <a:pt x="21844000" y="1902355"/>
                    <a:pt x="21841355" y="1905000"/>
                    <a:pt x="21838093" y="1905000"/>
                  </a:cubicBezTo>
                  <a:lnTo>
                    <a:pt x="5907" y="1905000"/>
                  </a:lnTo>
                  <a:cubicBezTo>
                    <a:pt x="2645" y="1905000"/>
                    <a:pt x="0" y="1902355"/>
                    <a:pt x="0" y="1899093"/>
                  </a:cubicBezTo>
                  <a:lnTo>
                    <a:pt x="0" y="5907"/>
                  </a:lnTo>
                  <a:cubicBezTo>
                    <a:pt x="0" y="2645"/>
                    <a:pt x="2645" y="0"/>
                    <a:pt x="590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95500"/>
            <a:ext cx="57150" cy="1428750"/>
            <a:chOff x="0" y="0"/>
            <a:chExt cx="762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3714750"/>
            <a:ext cx="16383000" cy="1428750"/>
            <a:chOff x="0" y="0"/>
            <a:chExt cx="21844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5907" y="0"/>
                  </a:moveTo>
                  <a:lnTo>
                    <a:pt x="21838093" y="0"/>
                  </a:lnTo>
                  <a:cubicBezTo>
                    <a:pt x="21841355" y="0"/>
                    <a:pt x="21844000" y="2645"/>
                    <a:pt x="21844000" y="5907"/>
                  </a:cubicBezTo>
                  <a:lnTo>
                    <a:pt x="21844000" y="1899093"/>
                  </a:lnTo>
                  <a:cubicBezTo>
                    <a:pt x="21844000" y="1902355"/>
                    <a:pt x="21841355" y="1905000"/>
                    <a:pt x="21838093" y="1905000"/>
                  </a:cubicBezTo>
                  <a:lnTo>
                    <a:pt x="5907" y="1905000"/>
                  </a:lnTo>
                  <a:cubicBezTo>
                    <a:pt x="2645" y="1905000"/>
                    <a:pt x="0" y="1902355"/>
                    <a:pt x="0" y="1899093"/>
                  </a:cubicBezTo>
                  <a:lnTo>
                    <a:pt x="0" y="5907"/>
                  </a:lnTo>
                  <a:cubicBezTo>
                    <a:pt x="0" y="2645"/>
                    <a:pt x="2645" y="0"/>
                    <a:pt x="590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3714750"/>
            <a:ext cx="57150" cy="1428750"/>
            <a:chOff x="0" y="0"/>
            <a:chExt cx="762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5334000"/>
            <a:ext cx="16383000" cy="1428750"/>
            <a:chOff x="0" y="0"/>
            <a:chExt cx="21844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5907" y="0"/>
                  </a:moveTo>
                  <a:lnTo>
                    <a:pt x="21838093" y="0"/>
                  </a:lnTo>
                  <a:cubicBezTo>
                    <a:pt x="21841355" y="0"/>
                    <a:pt x="21844000" y="2645"/>
                    <a:pt x="21844000" y="5907"/>
                  </a:cubicBezTo>
                  <a:lnTo>
                    <a:pt x="21844000" y="1899093"/>
                  </a:lnTo>
                  <a:cubicBezTo>
                    <a:pt x="21844000" y="1902355"/>
                    <a:pt x="21841355" y="1905000"/>
                    <a:pt x="21838093" y="1905000"/>
                  </a:cubicBezTo>
                  <a:lnTo>
                    <a:pt x="5907" y="1905000"/>
                  </a:lnTo>
                  <a:cubicBezTo>
                    <a:pt x="2645" y="1905000"/>
                    <a:pt x="0" y="1902355"/>
                    <a:pt x="0" y="1899093"/>
                  </a:cubicBezTo>
                  <a:lnTo>
                    <a:pt x="0" y="5907"/>
                  </a:lnTo>
                  <a:cubicBezTo>
                    <a:pt x="0" y="2645"/>
                    <a:pt x="2645" y="0"/>
                    <a:pt x="590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5334000"/>
            <a:ext cx="57150" cy="1428750"/>
            <a:chOff x="0" y="0"/>
            <a:chExt cx="762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6953250"/>
            <a:ext cx="16383000" cy="1428750"/>
            <a:chOff x="0" y="0"/>
            <a:chExt cx="21844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5907" y="0"/>
                  </a:moveTo>
                  <a:lnTo>
                    <a:pt x="21838093" y="0"/>
                  </a:lnTo>
                  <a:cubicBezTo>
                    <a:pt x="21841355" y="0"/>
                    <a:pt x="21844000" y="2645"/>
                    <a:pt x="21844000" y="5907"/>
                  </a:cubicBezTo>
                  <a:lnTo>
                    <a:pt x="21844000" y="1899093"/>
                  </a:lnTo>
                  <a:cubicBezTo>
                    <a:pt x="21844000" y="1902355"/>
                    <a:pt x="21841355" y="1905000"/>
                    <a:pt x="21838093" y="1905000"/>
                  </a:cubicBezTo>
                  <a:lnTo>
                    <a:pt x="5907" y="1905000"/>
                  </a:lnTo>
                  <a:cubicBezTo>
                    <a:pt x="2645" y="1905000"/>
                    <a:pt x="0" y="1902355"/>
                    <a:pt x="0" y="1899093"/>
                  </a:cubicBezTo>
                  <a:lnTo>
                    <a:pt x="0" y="5907"/>
                  </a:lnTo>
                  <a:cubicBezTo>
                    <a:pt x="0" y="2645"/>
                    <a:pt x="2645" y="0"/>
                    <a:pt x="5907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6953250"/>
            <a:ext cx="57150" cy="1428750"/>
            <a:chOff x="0" y="0"/>
            <a:chExt cx="76200" cy="1905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38250" y="230505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 PATTERN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8250" y="2514600"/>
            <a:ext cx="7429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 rate rises steadily with lead time.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34500" y="2305050"/>
            <a:ext cx="381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POSSIBLE INTERPRETATION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34500" y="2533650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Longer horizons mean more plan changes; deposits or reconfirmation windows can moderate risk.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8250" y="392430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 PATTERN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8250" y="4133850"/>
            <a:ext cx="7429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Non-refundable deposits show near-universal cancellation.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4500" y="3924300"/>
            <a:ext cx="381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POSSIBLE INTERPRETATION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34500" y="4152900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Suggests these bookings may represent speculative or duplicate reservations rather than active demand.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8250" y="554355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 PATTERN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8250" y="5753100"/>
            <a:ext cx="7429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New guests cancel more often than repeat guests.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34500" y="5543550"/>
            <a:ext cx="381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POSSIBLE INTERPRETATION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34500" y="5772150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Loyalty is a strong retention signal; repeat-guest incentives can protect volume.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250" y="716280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OBSERVED PATTERN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8250" y="7372350"/>
            <a:ext cx="7429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Zero special requests correlate with higher cancellations.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334500" y="7162800"/>
            <a:ext cx="381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79" b="true">
                <a:solidFill>
                  <a:srgbClr val="656D76"/>
                </a:solidFill>
                <a:latin typeface="Inter 1 Bold"/>
                <a:ea typeface="Inter 1 Bold"/>
                <a:cs typeface="Inter 1 Bold"/>
                <a:sym typeface="Inter 1 Bold"/>
              </a:rPr>
              <a:t>POSSIBLE INTERPRETATION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34500" y="7391400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Engagement (requests, changes) appears associated with commitment to arrival.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30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4086" y="549966"/>
            <a:ext cx="3707914" cy="2114072"/>
          </a:xfrm>
          <a:custGeom>
            <a:avLst/>
            <a:gdLst/>
            <a:ahLst/>
            <a:cxnLst/>
            <a:rect r="r" b="b" t="t" l="l"/>
            <a:pathLst>
              <a:path h="2114072" w="3707914">
                <a:moveTo>
                  <a:pt x="0" y="0"/>
                </a:moveTo>
                <a:lnTo>
                  <a:pt x="3707914" y="0"/>
                </a:lnTo>
                <a:lnTo>
                  <a:pt x="3707914" y="2114072"/>
                </a:lnTo>
                <a:lnTo>
                  <a:pt x="0" y="2114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-20717" r="-12272" b="-250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0976" y="3747363"/>
            <a:ext cx="10076688" cy="13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0"/>
              </a:lnSpc>
            </a:pPr>
            <a:r>
              <a:rPr lang="en-US" sz="10490" b="true">
                <a:solidFill>
                  <a:srgbClr val="1F426D"/>
                </a:solidFill>
                <a:latin typeface="Roboto Bold"/>
                <a:ea typeface="Roboto Bold"/>
                <a:cs typeface="Roboto Bold"/>
                <a:sym typeface="Roboto Bold"/>
              </a:rPr>
              <a:t>EMAN ELNAHAS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5138034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0976" y="5424542"/>
            <a:ext cx="9528048" cy="44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>
                <a:solidFill>
                  <a:srgbClr val="1F426D"/>
                </a:solidFill>
                <a:latin typeface="Roboto"/>
                <a:ea typeface="Roboto"/>
                <a:cs typeface="Roboto"/>
                <a:sym typeface="Roboto"/>
              </a:rPr>
              <a:t>SQL Query 4 • Customer Behavior + Power BI Dashboard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008086" y="2776725"/>
            <a:ext cx="8279914" cy="5367606"/>
          </a:xfrm>
          <a:custGeom>
            <a:avLst/>
            <a:gdLst/>
            <a:ahLst/>
            <a:cxnLst/>
            <a:rect r="r" b="b" t="t" l="l"/>
            <a:pathLst>
              <a:path h="5367606" w="8279914">
                <a:moveTo>
                  <a:pt x="0" y="0"/>
                </a:moveTo>
                <a:lnTo>
                  <a:pt x="8279914" y="0"/>
                </a:lnTo>
                <a:lnTo>
                  <a:pt x="827991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086" y="6635716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842" y="6854356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95728" y="7042233"/>
            <a:ext cx="2194560" cy="73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b="true" sz="5436">
                <a:solidFill>
                  <a:srgbClr val="145285"/>
                </a:solidFill>
                <a:latin typeface="Roboto Bold"/>
                <a:ea typeface="Roboto Bold"/>
                <a:cs typeface="Roboto Bold"/>
                <a:sym typeface="Roboto Bold"/>
              </a:rPr>
              <a:t>06 / 06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998574" y="6854356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76672" y="6936815"/>
            <a:ext cx="4096512" cy="82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>
                <a:solidFill>
                  <a:srgbClr val="1F426D"/>
                </a:solidFill>
                <a:latin typeface="Roboto"/>
                <a:ea typeface="Roboto"/>
                <a:cs typeface="Roboto"/>
                <a:sym typeface="Roboto"/>
              </a:rPr>
              <a:t>From guest behavior to</a:t>
            </a:r>
          </a:p>
          <a:p>
            <a:pPr algn="l">
              <a:lnSpc>
                <a:spcPts val="3229"/>
              </a:lnSpc>
            </a:pPr>
            <a:r>
              <a:rPr lang="en-US" sz="2691">
                <a:solidFill>
                  <a:srgbClr val="1F426D"/>
                </a:solidFill>
                <a:latin typeface="Roboto"/>
                <a:ea typeface="Roboto"/>
                <a:cs typeface="Roboto"/>
                <a:sym typeface="Roboto"/>
              </a:rPr>
              <a:t>the final project takeaways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7062064"/>
            <a:ext cx="18288000" cy="3224936"/>
          </a:xfrm>
          <a:custGeom>
            <a:avLst/>
            <a:gdLst/>
            <a:ahLst/>
            <a:cxnLst/>
            <a:rect r="r" b="b" t="t" l="l"/>
            <a:pathLst>
              <a:path h="3224936" w="18288000">
                <a:moveTo>
                  <a:pt x="0" y="0"/>
                </a:moveTo>
                <a:lnTo>
                  <a:pt x="18288000" y="0"/>
                </a:lnTo>
                <a:lnTo>
                  <a:pt x="1828800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11 · SQL QUERY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Customer Behavior —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476500"/>
            <a:ext cx="5334000" cy="1524000"/>
            <a:chOff x="0" y="0"/>
            <a:chExt cx="7112000" cy="203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009321"/>
                  </a:lnTo>
                  <a:cubicBezTo>
                    <a:pt x="7112000" y="2021847"/>
                    <a:pt x="7101846" y="2032000"/>
                    <a:pt x="7089322" y="2032000"/>
                  </a:cubicBezTo>
                  <a:lnTo>
                    <a:pt x="22679" y="2032000"/>
                  </a:lnTo>
                  <a:cubicBezTo>
                    <a:pt x="10154" y="2032000"/>
                    <a:pt x="0" y="2021847"/>
                    <a:pt x="0" y="2009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1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476500"/>
            <a:ext cx="5334000" cy="57150"/>
            <a:chOff x="0" y="0"/>
            <a:chExt cx="71120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0" cy="76200"/>
            </a:xfrm>
            <a:custGeom>
              <a:avLst/>
              <a:gdLst/>
              <a:ahLst/>
              <a:cxnLst/>
              <a:rect r="r" b="b" t="t" l="l"/>
              <a:pathLst>
                <a:path h="762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11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7000" y="2476500"/>
            <a:ext cx="5334000" cy="1524000"/>
            <a:chOff x="0" y="0"/>
            <a:chExt cx="7112000" cy="203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009321"/>
                  </a:lnTo>
                  <a:cubicBezTo>
                    <a:pt x="7112000" y="2021847"/>
                    <a:pt x="7101846" y="2032000"/>
                    <a:pt x="7089322" y="2032000"/>
                  </a:cubicBezTo>
                  <a:lnTo>
                    <a:pt x="22679" y="2032000"/>
                  </a:lnTo>
                  <a:cubicBezTo>
                    <a:pt x="10154" y="2032000"/>
                    <a:pt x="0" y="2021847"/>
                    <a:pt x="0" y="2009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1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7000" y="2476500"/>
            <a:ext cx="5334000" cy="57150"/>
            <a:chOff x="0" y="0"/>
            <a:chExt cx="71120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0" cy="76200"/>
            </a:xfrm>
            <a:custGeom>
              <a:avLst/>
              <a:gdLst/>
              <a:ahLst/>
              <a:cxnLst/>
              <a:rect r="r" b="b" t="t" l="l"/>
              <a:pathLst>
                <a:path h="762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0" y="2476500"/>
            <a:ext cx="5334000" cy="1524000"/>
            <a:chOff x="0" y="0"/>
            <a:chExt cx="7112000" cy="203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009321"/>
                  </a:lnTo>
                  <a:cubicBezTo>
                    <a:pt x="7112000" y="2021847"/>
                    <a:pt x="7101846" y="2032000"/>
                    <a:pt x="7089322" y="2032000"/>
                  </a:cubicBezTo>
                  <a:lnTo>
                    <a:pt x="22679" y="2032000"/>
                  </a:lnTo>
                  <a:cubicBezTo>
                    <a:pt x="10154" y="2032000"/>
                    <a:pt x="0" y="2021847"/>
                    <a:pt x="0" y="2009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1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01500" y="2476500"/>
            <a:ext cx="5334000" cy="57150"/>
            <a:chOff x="0" y="0"/>
            <a:chExt cx="71120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12000" cy="76200"/>
            </a:xfrm>
            <a:custGeom>
              <a:avLst/>
              <a:gdLst/>
              <a:ahLst/>
              <a:cxnLst/>
              <a:rect r="r" b="b" t="t" l="l"/>
              <a:pathLst>
                <a:path h="762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11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4191000"/>
            <a:ext cx="5334000" cy="1524000"/>
            <a:chOff x="0" y="0"/>
            <a:chExt cx="7112000" cy="203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1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009321"/>
                  </a:lnTo>
                  <a:cubicBezTo>
                    <a:pt x="7112000" y="2021847"/>
                    <a:pt x="7101846" y="2032000"/>
                    <a:pt x="7089322" y="2032000"/>
                  </a:cubicBezTo>
                  <a:lnTo>
                    <a:pt x="22679" y="2032000"/>
                  </a:lnTo>
                  <a:cubicBezTo>
                    <a:pt x="10154" y="2032000"/>
                    <a:pt x="0" y="2021847"/>
                    <a:pt x="0" y="2009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1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191000"/>
            <a:ext cx="5334000" cy="57150"/>
            <a:chOff x="0" y="0"/>
            <a:chExt cx="7112000" cy="76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12000" cy="76200"/>
            </a:xfrm>
            <a:custGeom>
              <a:avLst/>
              <a:gdLst/>
              <a:ahLst/>
              <a:cxnLst/>
              <a:rect r="r" b="b" t="t" l="l"/>
              <a:pathLst>
                <a:path h="762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11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77000" y="4191000"/>
            <a:ext cx="5334000" cy="1524000"/>
            <a:chOff x="0" y="0"/>
            <a:chExt cx="7112000" cy="203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1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009321"/>
                  </a:lnTo>
                  <a:cubicBezTo>
                    <a:pt x="7112000" y="2021847"/>
                    <a:pt x="7101846" y="2032000"/>
                    <a:pt x="7089322" y="2032000"/>
                  </a:cubicBezTo>
                  <a:lnTo>
                    <a:pt x="22679" y="2032000"/>
                  </a:lnTo>
                  <a:cubicBezTo>
                    <a:pt x="10154" y="2032000"/>
                    <a:pt x="0" y="2021847"/>
                    <a:pt x="0" y="2009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11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77000" y="4191000"/>
            <a:ext cx="5334000" cy="57150"/>
            <a:chOff x="0" y="0"/>
            <a:chExt cx="7112000" cy="7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12000" cy="76200"/>
            </a:xfrm>
            <a:custGeom>
              <a:avLst/>
              <a:gdLst/>
              <a:ahLst/>
              <a:cxnLst/>
              <a:rect r="r" b="b" t="t" l="l"/>
              <a:pathLst>
                <a:path h="762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11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01500" y="4191000"/>
            <a:ext cx="5334000" cy="1524000"/>
            <a:chOff x="0" y="0"/>
            <a:chExt cx="7112000" cy="203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1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7112000">
                  <a:moveTo>
                    <a:pt x="22679" y="0"/>
                  </a:moveTo>
                  <a:lnTo>
                    <a:pt x="7089322" y="0"/>
                  </a:lnTo>
                  <a:cubicBezTo>
                    <a:pt x="7101846" y="0"/>
                    <a:pt x="7112000" y="10154"/>
                    <a:pt x="7112000" y="22679"/>
                  </a:cubicBezTo>
                  <a:lnTo>
                    <a:pt x="7112000" y="2009321"/>
                  </a:lnTo>
                  <a:cubicBezTo>
                    <a:pt x="7112000" y="2021847"/>
                    <a:pt x="7101846" y="2032000"/>
                    <a:pt x="7089322" y="2032000"/>
                  </a:cubicBezTo>
                  <a:lnTo>
                    <a:pt x="22679" y="2032000"/>
                  </a:lnTo>
                  <a:cubicBezTo>
                    <a:pt x="10154" y="2032000"/>
                    <a:pt x="0" y="2021847"/>
                    <a:pt x="0" y="2009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11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01500" y="4191000"/>
            <a:ext cx="5334000" cy="57150"/>
            <a:chOff x="0" y="0"/>
            <a:chExt cx="7112000" cy="76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12000" cy="76200"/>
            </a:xfrm>
            <a:custGeom>
              <a:avLst/>
              <a:gdLst/>
              <a:ahLst/>
              <a:cxnLst/>
              <a:rect r="r" b="b" t="t" l="l"/>
              <a:pathLst>
                <a:path h="762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11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38250" y="27432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8250" y="309562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Guest Demographics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62750" y="27432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762750" y="309562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Preferences &amp; Amenities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87250" y="27432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87250" y="309562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Service Intensity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8250" y="44577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8250" y="481012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Booking Changes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762750" y="44577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62750" y="481012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Room Discrepancies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87250" y="4457700"/>
            <a:ext cx="95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67B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287250" y="4810125"/>
            <a:ext cx="476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Loyalty &amp; Repeat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2500" y="1962150"/>
            <a:ext cx="163830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Query 4 profiles who books, what they want, and how they interact with the hotel — the operational and marketing complement to revenue and cancellation analytics.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2500" y="8553450"/>
            <a:ext cx="16383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Findings inform staffing plans, amenity investment, loyalty programs, and targeted marketing campaigns.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31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11 · SQL QUERY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Guest Demographics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7810500" cy="2667000"/>
            <a:chOff x="0" y="0"/>
            <a:chExt cx="10414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12390" y="0"/>
                  </a:moveTo>
                  <a:lnTo>
                    <a:pt x="10401610" y="0"/>
                  </a:lnTo>
                  <a:cubicBezTo>
                    <a:pt x="10408453" y="0"/>
                    <a:pt x="10414000" y="5547"/>
                    <a:pt x="10414000" y="12390"/>
                  </a:cubicBezTo>
                  <a:lnTo>
                    <a:pt x="10414000" y="3543610"/>
                  </a:lnTo>
                  <a:cubicBezTo>
                    <a:pt x="10414000" y="3550453"/>
                    <a:pt x="10408453" y="3556000"/>
                    <a:pt x="10401610" y="3556000"/>
                  </a:cubicBezTo>
                  <a:lnTo>
                    <a:pt x="12390" y="3556000"/>
                  </a:lnTo>
                  <a:cubicBezTo>
                    <a:pt x="5547" y="3556000"/>
                    <a:pt x="0" y="3550453"/>
                    <a:pt x="0" y="3543610"/>
                  </a:cubicBezTo>
                  <a:lnTo>
                    <a:pt x="0" y="12390"/>
                  </a:lnTo>
                  <a:cubicBezTo>
                    <a:pt x="0" y="5547"/>
                    <a:pt x="5547" y="0"/>
                    <a:pt x="12390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428875"/>
            <a:ext cx="7353300" cy="22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CASE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WHEN adults=1 AND children=0 AND babies=0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THEN 'Solo Traveler'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WHEN adults=2 AND children=0 AND babies=0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THEN 'Couples'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WHEN children&gt;0 OR babies&gt;0 THEN 'Families'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ELSE 'Groups/Others'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END AS guest_category, ...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guest_category;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2500" y="5143500"/>
            <a:ext cx="3810000" cy="1333500"/>
            <a:chOff x="0" y="0"/>
            <a:chExt cx="5080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080000">
                  <a:moveTo>
                    <a:pt x="25400" y="0"/>
                  </a:moveTo>
                  <a:lnTo>
                    <a:pt x="5054600" y="0"/>
                  </a:lnTo>
                  <a:cubicBezTo>
                    <a:pt x="5068628" y="0"/>
                    <a:pt x="5080000" y="11372"/>
                    <a:pt x="5080000" y="25400"/>
                  </a:cubicBezTo>
                  <a:lnTo>
                    <a:pt x="5080000" y="1752600"/>
                  </a:lnTo>
                  <a:cubicBezTo>
                    <a:pt x="5080000" y="1766628"/>
                    <a:pt x="5068628" y="1778000"/>
                    <a:pt x="5054600" y="1778000"/>
                  </a:cubicBezTo>
                  <a:lnTo>
                    <a:pt x="25400" y="1778000"/>
                  </a:lnTo>
                  <a:cubicBezTo>
                    <a:pt x="11372" y="1778000"/>
                    <a:pt x="0" y="1766628"/>
                    <a:pt x="0" y="1752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080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53000" y="5143500"/>
            <a:ext cx="3810000" cy="1333500"/>
            <a:chOff x="0" y="0"/>
            <a:chExt cx="5080000" cy="17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080000">
                  <a:moveTo>
                    <a:pt x="25400" y="0"/>
                  </a:moveTo>
                  <a:lnTo>
                    <a:pt x="5054600" y="0"/>
                  </a:lnTo>
                  <a:cubicBezTo>
                    <a:pt x="5068628" y="0"/>
                    <a:pt x="5080000" y="11372"/>
                    <a:pt x="5080000" y="25400"/>
                  </a:cubicBezTo>
                  <a:lnTo>
                    <a:pt x="5080000" y="1752600"/>
                  </a:lnTo>
                  <a:cubicBezTo>
                    <a:pt x="5080000" y="1766628"/>
                    <a:pt x="5068628" y="1778000"/>
                    <a:pt x="5054600" y="1778000"/>
                  </a:cubicBezTo>
                  <a:lnTo>
                    <a:pt x="25400" y="1778000"/>
                  </a:lnTo>
                  <a:cubicBezTo>
                    <a:pt x="11372" y="1778000"/>
                    <a:pt x="0" y="1766628"/>
                    <a:pt x="0" y="1752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80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6667500"/>
            <a:ext cx="3810000" cy="1333500"/>
            <a:chOff x="0" y="0"/>
            <a:chExt cx="5080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080000">
                  <a:moveTo>
                    <a:pt x="25400" y="0"/>
                  </a:moveTo>
                  <a:lnTo>
                    <a:pt x="5054600" y="0"/>
                  </a:lnTo>
                  <a:cubicBezTo>
                    <a:pt x="5068628" y="0"/>
                    <a:pt x="5080000" y="11372"/>
                    <a:pt x="5080000" y="25400"/>
                  </a:cubicBezTo>
                  <a:lnTo>
                    <a:pt x="5080000" y="1752600"/>
                  </a:lnTo>
                  <a:cubicBezTo>
                    <a:pt x="5080000" y="1766628"/>
                    <a:pt x="5068628" y="1778000"/>
                    <a:pt x="5054600" y="1778000"/>
                  </a:cubicBezTo>
                  <a:lnTo>
                    <a:pt x="25400" y="1778000"/>
                  </a:lnTo>
                  <a:cubicBezTo>
                    <a:pt x="11372" y="1778000"/>
                    <a:pt x="0" y="1766628"/>
                    <a:pt x="0" y="1752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80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53000" y="6667500"/>
            <a:ext cx="3810000" cy="1333500"/>
            <a:chOff x="0" y="0"/>
            <a:chExt cx="5080000" cy="1778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080000">
                  <a:moveTo>
                    <a:pt x="25400" y="0"/>
                  </a:moveTo>
                  <a:lnTo>
                    <a:pt x="5054600" y="0"/>
                  </a:lnTo>
                  <a:cubicBezTo>
                    <a:pt x="5068628" y="0"/>
                    <a:pt x="5080000" y="11372"/>
                    <a:pt x="5080000" y="25400"/>
                  </a:cubicBezTo>
                  <a:lnTo>
                    <a:pt x="5080000" y="1752600"/>
                  </a:lnTo>
                  <a:cubicBezTo>
                    <a:pt x="5080000" y="1766628"/>
                    <a:pt x="5068628" y="1778000"/>
                    <a:pt x="5054600" y="1778000"/>
                  </a:cubicBezTo>
                  <a:lnTo>
                    <a:pt x="25400" y="1778000"/>
                  </a:lnTo>
                  <a:cubicBezTo>
                    <a:pt x="11372" y="1778000"/>
                    <a:pt x="0" y="1766628"/>
                    <a:pt x="0" y="1752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7F5F1"/>
            </a:solidFill>
            <a:ln w="9525" cap="sq">
              <a:solidFill>
                <a:srgbClr val="D1D9E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80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1280" y="1497287"/>
            <a:ext cx="9667440" cy="8435426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181100" y="5295900"/>
            <a:ext cx="33528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Couples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1100" y="5619750"/>
            <a:ext cx="1428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52%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57500" y="57054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60,900 bookings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57500" y="59721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Avg stay: 3.4 nights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81600" y="5295900"/>
            <a:ext cx="33528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Families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81600" y="5619750"/>
            <a:ext cx="1428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22%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58000" y="57054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25,800 bookings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8000" y="59721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Avg stay: 4.1 nights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1100" y="6819900"/>
            <a:ext cx="33528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Solo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1100" y="7143750"/>
            <a:ext cx="1428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17%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57500" y="72294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20,000 bookings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57500" y="74961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Avg stay: 2.8 nights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81600" y="6819900"/>
            <a:ext cx="33528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Groups/Others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81600" y="7143750"/>
            <a:ext cx="1428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9%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58000" y="72294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10,700 bookings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58000" y="7496175"/>
            <a:ext cx="17145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Avg stay: 2.6 nights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32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11 · SQL QUERY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Guest Preferences &amp; Amenities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7810500" cy="2667000"/>
            <a:chOff x="0" y="0"/>
            <a:chExt cx="10414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12390" y="0"/>
                  </a:moveTo>
                  <a:lnTo>
                    <a:pt x="10401610" y="0"/>
                  </a:lnTo>
                  <a:cubicBezTo>
                    <a:pt x="10408453" y="0"/>
                    <a:pt x="10414000" y="5547"/>
                    <a:pt x="10414000" y="12390"/>
                  </a:cubicBezTo>
                  <a:lnTo>
                    <a:pt x="10414000" y="3543610"/>
                  </a:lnTo>
                  <a:cubicBezTo>
                    <a:pt x="10414000" y="3550453"/>
                    <a:pt x="10408453" y="3556000"/>
                    <a:pt x="10401610" y="3556000"/>
                  </a:cubicBezTo>
                  <a:lnTo>
                    <a:pt x="12390" y="3556000"/>
                  </a:lnTo>
                  <a:cubicBezTo>
                    <a:pt x="5547" y="3556000"/>
                    <a:pt x="0" y="3550453"/>
                    <a:pt x="0" y="3543610"/>
                  </a:cubicBezTo>
                  <a:lnTo>
                    <a:pt x="0" y="12390"/>
                  </a:lnTo>
                  <a:cubicBezTo>
                    <a:pt x="0" y="5547"/>
                    <a:pt x="5547" y="0"/>
                    <a:pt x="12390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428875"/>
            <a:ext cx="735330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hotel, meal,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COUNT(*) AS bookings,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100.0 * COUNT(*)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/ SUM(COUNT(*)) OVER (PARTITION BY hotel)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AS meal_share_pct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hotel, meal;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419" y="4365934"/>
            <a:ext cx="9438662" cy="5555632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02757" y="1497375"/>
            <a:ext cx="9464486" cy="500625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0688" y="5148148"/>
            <a:ext cx="9148626" cy="4753205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52500" y="4448175"/>
            <a:ext cx="781050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PARTITION BY hotel isolates each property's mix — so a City breakfast share is not diluted by Resort half-board volume.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33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11 · SQL QUERY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Service Intensity &amp; Operations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2286000"/>
            <a:ext cx="7810500" cy="3048000"/>
            <a:chOff x="0" y="0"/>
            <a:chExt cx="10414000" cy="406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10414000">
                  <a:moveTo>
                    <a:pt x="12390" y="0"/>
                  </a:moveTo>
                  <a:lnTo>
                    <a:pt x="10401610" y="0"/>
                  </a:lnTo>
                  <a:cubicBezTo>
                    <a:pt x="10408453" y="0"/>
                    <a:pt x="10414000" y="5547"/>
                    <a:pt x="10414000" y="12390"/>
                  </a:cubicBezTo>
                  <a:lnTo>
                    <a:pt x="10414000" y="4051610"/>
                  </a:lnTo>
                  <a:cubicBezTo>
                    <a:pt x="10414000" y="4058453"/>
                    <a:pt x="10408453" y="4064000"/>
                    <a:pt x="10401610" y="4064000"/>
                  </a:cubicBezTo>
                  <a:lnTo>
                    <a:pt x="12390" y="4064000"/>
                  </a:lnTo>
                  <a:cubicBezTo>
                    <a:pt x="5547" y="4064000"/>
                    <a:pt x="0" y="4058453"/>
                    <a:pt x="0" y="4051610"/>
                  </a:cubicBezTo>
                  <a:lnTo>
                    <a:pt x="0" y="12390"/>
                  </a:lnTo>
                  <a:cubicBezTo>
                    <a:pt x="0" y="5547"/>
                    <a:pt x="5547" y="0"/>
                    <a:pt x="12390" y="0"/>
                  </a:cubicBez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" y="2428875"/>
            <a:ext cx="7353300" cy="22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hotel,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AVG(total_of_special_requests) AS avg_requests,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100.0 * SUM(CASE WHEN booking_changes&gt;0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THEN 1 ELSE 0 END) / COUNT(*)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AS change_rate_pct,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100.0 * SUM(CASE WHEN reserved_room_type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&lt;&gt; assigned_room_type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THEN 1 ELSE 0 END) / COUNT(*)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AS room_discrepancy_rate_pct</a:t>
            </a:r>
          </a:p>
          <a:p>
            <a:pPr algn="l">
              <a:lnSpc>
                <a:spcPts val="1860"/>
              </a:lnSpc>
            </a:pPr>
            <a:r>
              <a:rPr lang="en-US" sz="12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 hotel;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34500" y="2286000"/>
            <a:ext cx="8001000" cy="1238250"/>
            <a:chOff x="0" y="0"/>
            <a:chExt cx="10668000" cy="1651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668000" cy="1651000"/>
              <a:chOff x="0" y="0"/>
              <a:chExt cx="10668000" cy="1651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68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668000">
                    <a:moveTo>
                      <a:pt x="9071" y="0"/>
                    </a:moveTo>
                    <a:lnTo>
                      <a:pt x="10658928" y="0"/>
                    </a:lnTo>
                    <a:cubicBezTo>
                      <a:pt x="10661335" y="0"/>
                      <a:pt x="10663642" y="956"/>
                      <a:pt x="10665343" y="2657"/>
                    </a:cubicBezTo>
                    <a:cubicBezTo>
                      <a:pt x="10667044" y="4358"/>
                      <a:pt x="10668000" y="6666"/>
                      <a:pt x="10668000" y="9071"/>
                    </a:cubicBezTo>
                    <a:lnTo>
                      <a:pt x="10668000" y="1641929"/>
                    </a:lnTo>
                    <a:cubicBezTo>
                      <a:pt x="10668000" y="1644335"/>
                      <a:pt x="10667044" y="1646642"/>
                      <a:pt x="10665343" y="1648343"/>
                    </a:cubicBezTo>
                    <a:cubicBezTo>
                      <a:pt x="10663642" y="1650044"/>
                      <a:pt x="10661335" y="1651000"/>
                      <a:pt x="10658928" y="1651000"/>
                    </a:cubicBezTo>
                    <a:lnTo>
                      <a:pt x="9071" y="1651000"/>
                    </a:lnTo>
                    <a:cubicBezTo>
                      <a:pt x="6666" y="1651000"/>
                      <a:pt x="4358" y="1650044"/>
                      <a:pt x="2657" y="1648343"/>
                    </a:cubicBezTo>
                    <a:cubicBezTo>
                      <a:pt x="956" y="1646642"/>
                      <a:pt x="0" y="1644335"/>
                      <a:pt x="0" y="1641929"/>
                    </a:cubicBezTo>
                    <a:lnTo>
                      <a:pt x="0" y="9071"/>
                    </a:lnTo>
                    <a:cubicBezTo>
                      <a:pt x="0" y="6666"/>
                      <a:pt x="956" y="4358"/>
                      <a:pt x="2657" y="2657"/>
                    </a:cubicBezTo>
                    <a:cubicBezTo>
                      <a:pt x="4358" y="956"/>
                      <a:pt x="6666" y="0"/>
                      <a:pt x="9071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668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04800" y="212725"/>
              <a:ext cx="100584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0.57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04800" y="1123950"/>
              <a:ext cx="100584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AVG SPECIAL REQUESTS / GUEST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4500" y="3714750"/>
            <a:ext cx="8001000" cy="1238250"/>
            <a:chOff x="0" y="0"/>
            <a:chExt cx="10668000" cy="1651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668000" cy="1651000"/>
              <a:chOff x="0" y="0"/>
              <a:chExt cx="10668000" cy="165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668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668000">
                    <a:moveTo>
                      <a:pt x="9071" y="0"/>
                    </a:moveTo>
                    <a:lnTo>
                      <a:pt x="10658928" y="0"/>
                    </a:lnTo>
                    <a:cubicBezTo>
                      <a:pt x="10661335" y="0"/>
                      <a:pt x="10663642" y="956"/>
                      <a:pt x="10665343" y="2657"/>
                    </a:cubicBezTo>
                    <a:cubicBezTo>
                      <a:pt x="10667044" y="4358"/>
                      <a:pt x="10668000" y="6666"/>
                      <a:pt x="10668000" y="9071"/>
                    </a:cubicBezTo>
                    <a:lnTo>
                      <a:pt x="10668000" y="1641929"/>
                    </a:lnTo>
                    <a:cubicBezTo>
                      <a:pt x="10668000" y="1644335"/>
                      <a:pt x="10667044" y="1646642"/>
                      <a:pt x="10665343" y="1648343"/>
                    </a:cubicBezTo>
                    <a:cubicBezTo>
                      <a:pt x="10663642" y="1650044"/>
                      <a:pt x="10661335" y="1651000"/>
                      <a:pt x="10658928" y="1651000"/>
                    </a:cubicBezTo>
                    <a:lnTo>
                      <a:pt x="9071" y="1651000"/>
                    </a:lnTo>
                    <a:cubicBezTo>
                      <a:pt x="6666" y="1651000"/>
                      <a:pt x="4358" y="1650044"/>
                      <a:pt x="2657" y="1648343"/>
                    </a:cubicBezTo>
                    <a:cubicBezTo>
                      <a:pt x="956" y="1646642"/>
                      <a:pt x="0" y="1644335"/>
                      <a:pt x="0" y="1641929"/>
                    </a:cubicBezTo>
                    <a:lnTo>
                      <a:pt x="0" y="9071"/>
                    </a:lnTo>
                    <a:cubicBezTo>
                      <a:pt x="0" y="6666"/>
                      <a:pt x="956" y="4358"/>
                      <a:pt x="2657" y="2657"/>
                    </a:cubicBezTo>
                    <a:cubicBezTo>
                      <a:pt x="4358" y="956"/>
                      <a:pt x="6666" y="0"/>
                      <a:pt x="9071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668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04800" y="212725"/>
              <a:ext cx="100584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14.5%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04800" y="1123950"/>
              <a:ext cx="100584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BOOKING CHANGE RATE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34500" y="5143500"/>
            <a:ext cx="8001000" cy="1238250"/>
            <a:chOff x="0" y="0"/>
            <a:chExt cx="10668000" cy="1651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0668000" cy="1651000"/>
              <a:chOff x="0" y="0"/>
              <a:chExt cx="10668000" cy="1651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668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668000">
                    <a:moveTo>
                      <a:pt x="9071" y="0"/>
                    </a:moveTo>
                    <a:lnTo>
                      <a:pt x="10658928" y="0"/>
                    </a:lnTo>
                    <a:cubicBezTo>
                      <a:pt x="10661335" y="0"/>
                      <a:pt x="10663642" y="956"/>
                      <a:pt x="10665343" y="2657"/>
                    </a:cubicBezTo>
                    <a:cubicBezTo>
                      <a:pt x="10667044" y="4358"/>
                      <a:pt x="10668000" y="6666"/>
                      <a:pt x="10668000" y="9071"/>
                    </a:cubicBezTo>
                    <a:lnTo>
                      <a:pt x="10668000" y="1641929"/>
                    </a:lnTo>
                    <a:cubicBezTo>
                      <a:pt x="10668000" y="1644335"/>
                      <a:pt x="10667044" y="1646642"/>
                      <a:pt x="10665343" y="1648343"/>
                    </a:cubicBezTo>
                    <a:cubicBezTo>
                      <a:pt x="10663642" y="1650044"/>
                      <a:pt x="10661335" y="1651000"/>
                      <a:pt x="10658928" y="1651000"/>
                    </a:cubicBezTo>
                    <a:lnTo>
                      <a:pt x="9071" y="1651000"/>
                    </a:lnTo>
                    <a:cubicBezTo>
                      <a:pt x="6666" y="1651000"/>
                      <a:pt x="4358" y="1650044"/>
                      <a:pt x="2657" y="1648343"/>
                    </a:cubicBezTo>
                    <a:cubicBezTo>
                      <a:pt x="956" y="1646642"/>
                      <a:pt x="0" y="1644335"/>
                      <a:pt x="0" y="1641929"/>
                    </a:cubicBezTo>
                    <a:lnTo>
                      <a:pt x="0" y="9071"/>
                    </a:lnTo>
                    <a:cubicBezTo>
                      <a:pt x="0" y="6666"/>
                      <a:pt x="956" y="4358"/>
                      <a:pt x="2657" y="2657"/>
                    </a:cubicBezTo>
                    <a:cubicBezTo>
                      <a:pt x="4358" y="956"/>
                      <a:pt x="6666" y="0"/>
                      <a:pt x="9071" y="0"/>
                    </a:cubicBezTo>
                    <a:close/>
                  </a:path>
                </a:pathLst>
              </a:custGeom>
              <a:solidFill>
                <a:srgbClr val="F7F5F1"/>
              </a:solidFill>
              <a:ln w="9525" cap="sq">
                <a:solidFill>
                  <a:srgbClr val="D1D9E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0668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50800" cy="1651000"/>
              <a:chOff x="0" y="0"/>
              <a:chExt cx="50800" cy="1651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08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67B4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508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04800" y="212725"/>
              <a:ext cx="100584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18.14%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04800" y="1123950"/>
              <a:ext cx="10058400" cy="22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spc="105">
                  <a:solidFill>
                    <a:srgbClr val="656D76"/>
                  </a:solidFill>
                  <a:latin typeface="Inter 1"/>
                  <a:ea typeface="Inter 1"/>
                  <a:cs typeface="Inter 1"/>
                  <a:sym typeface="Inter 1"/>
                </a:rPr>
                <a:t>ROOM DISCREPANCY RATE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2500" y="6629400"/>
            <a:ext cx="78105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Room discrepancy — reserved type ≠ assigned type — is a leading indicator of on-property operational friction and guest satisfaction risk.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" y="7867650"/>
            <a:ext cx="78105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1F2328"/>
                </a:solidFill>
                <a:latin typeface="Inter 1"/>
                <a:ea typeface="Inter 1"/>
                <a:cs typeface="Inter 1"/>
                <a:sym typeface="Inter 1"/>
              </a:rPr>
              <a:t>Booking-change rate captures how often guests modify reservations before arrival, a proxy for engagement and reduced cancellation risk.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52500" y="9839325"/>
            <a:ext cx="952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Hotel Booking Analysis  ·  Data Analytics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34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200"/>
            <a:chOff x="0" y="0"/>
            <a:chExt cx="243840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03C6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3000" y="476250"/>
            <a:ext cx="1333500" cy="857250"/>
          </a:xfrm>
          <a:custGeom>
            <a:avLst/>
            <a:gdLst/>
            <a:ahLst/>
            <a:cxnLst/>
            <a:rect r="r" b="b" t="t" l="l"/>
            <a:pathLst>
              <a:path h="857250" w="1333500">
                <a:moveTo>
                  <a:pt x="0" y="0"/>
                </a:moveTo>
                <a:lnTo>
                  <a:pt x="1333500" y="0"/>
                </a:lnTo>
                <a:lnTo>
                  <a:pt x="13335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9" r="0" b="-18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9715500"/>
            <a:ext cx="16383000" cy="9525"/>
            <a:chOff x="0" y="0"/>
            <a:chExt cx="21844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1D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2500" y="1445895"/>
            <a:ext cx="15430500" cy="8658754"/>
          </a:xfrm>
          <a:custGeom>
            <a:avLst/>
            <a:gdLst/>
            <a:ahLst/>
            <a:cxnLst/>
            <a:rect r="r" b="b" t="t" l="l"/>
            <a:pathLst>
              <a:path h="8658754" w="15430500">
                <a:moveTo>
                  <a:pt x="0" y="0"/>
                </a:moveTo>
                <a:lnTo>
                  <a:pt x="15430500" y="0"/>
                </a:lnTo>
                <a:lnTo>
                  <a:pt x="15430500" y="8658754"/>
                </a:lnTo>
                <a:lnTo>
                  <a:pt x="0" y="8658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11" r="0" b="-71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2500" y="552450"/>
            <a:ext cx="1143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11 · POWER BI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66775"/>
            <a:ext cx="14287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Customer Behavior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83000" y="9839325"/>
            <a:ext cx="95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656D76"/>
                </a:solidFill>
                <a:latin typeface="Inter 1"/>
                <a:ea typeface="Inter 1"/>
                <a:cs typeface="Inter 1"/>
                <a:sym typeface="Inter 1"/>
              </a:rPr>
              <a:t>35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" cy="10287000"/>
            <a:chOff x="0" y="0"/>
            <a:chExt cx="152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40000" y="952500"/>
            <a:ext cx="2095500" cy="1333500"/>
          </a:xfrm>
          <a:custGeom>
            <a:avLst/>
            <a:gdLst/>
            <a:ahLst/>
            <a:cxnLst/>
            <a:rect r="r" b="b" t="t" l="l"/>
            <a:pathLst>
              <a:path h="1333500" w="2095500">
                <a:moveTo>
                  <a:pt x="0" y="0"/>
                </a:moveTo>
                <a:lnTo>
                  <a:pt x="2095500" y="0"/>
                </a:lnTo>
                <a:lnTo>
                  <a:pt x="2095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8" r="0" b="-2348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1219200"/>
            <a:ext cx="1428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270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FINAL INSIGHTS  ·  END-TO-END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07645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 spc="210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COMPLETE PROJECT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333625"/>
            <a:ext cx="14287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From raw records to business insight.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3048000"/>
            <a:ext cx="1947862" cy="704850"/>
            <a:chOff x="0" y="0"/>
            <a:chExt cx="2597150" cy="939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RAW DATA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14662" y="3048000"/>
            <a:ext cx="1947862" cy="704850"/>
            <a:chOff x="0" y="0"/>
            <a:chExt cx="2597150" cy="939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PYTHON EXPLORATION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76825" y="3048000"/>
            <a:ext cx="1947862" cy="704850"/>
            <a:chOff x="0" y="0"/>
            <a:chExt cx="259715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CLEANING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38988" y="3048000"/>
            <a:ext cx="1947862" cy="704850"/>
            <a:chOff x="0" y="0"/>
            <a:chExt cx="2597150" cy="939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FEATURE ENG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01150" y="3048000"/>
            <a:ext cx="1947862" cy="704850"/>
            <a:chOff x="0" y="0"/>
            <a:chExt cx="2597150" cy="939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SQL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63312" y="3048000"/>
            <a:ext cx="1947862" cy="704850"/>
            <a:chOff x="0" y="0"/>
            <a:chExt cx="2597150" cy="939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POWER BI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325475" y="3048000"/>
            <a:ext cx="1947862" cy="704850"/>
            <a:chOff x="0" y="0"/>
            <a:chExt cx="2597150" cy="939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TABLEAU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387638" y="3048000"/>
            <a:ext cx="1947862" cy="704850"/>
            <a:chOff x="0" y="0"/>
            <a:chExt cx="2597150" cy="939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97150" cy="939800"/>
            </a:xfrm>
            <a:custGeom>
              <a:avLst/>
              <a:gdLst/>
              <a:ahLst/>
              <a:cxnLst/>
              <a:rect r="r" b="b" t="t" l="l"/>
              <a:pathLst>
                <a:path h="939800" w="2597150">
                  <a:moveTo>
                    <a:pt x="37262" y="0"/>
                  </a:moveTo>
                  <a:lnTo>
                    <a:pt x="2559888" y="0"/>
                  </a:lnTo>
                  <a:cubicBezTo>
                    <a:pt x="2569771" y="0"/>
                    <a:pt x="2579248" y="3926"/>
                    <a:pt x="2586236" y="10914"/>
                  </a:cubicBezTo>
                  <a:cubicBezTo>
                    <a:pt x="2593224" y="17902"/>
                    <a:pt x="2597150" y="27379"/>
                    <a:pt x="2597150" y="37262"/>
                  </a:cubicBezTo>
                  <a:lnTo>
                    <a:pt x="2597150" y="902538"/>
                  </a:lnTo>
                  <a:cubicBezTo>
                    <a:pt x="2597150" y="912421"/>
                    <a:pt x="2593224" y="921898"/>
                    <a:pt x="2586236" y="928886"/>
                  </a:cubicBezTo>
                  <a:cubicBezTo>
                    <a:pt x="2579248" y="935874"/>
                    <a:pt x="2569771" y="939800"/>
                    <a:pt x="2559888" y="939800"/>
                  </a:cubicBezTo>
                  <a:lnTo>
                    <a:pt x="37262" y="939800"/>
                  </a:lnTo>
                  <a:cubicBezTo>
                    <a:pt x="27379" y="939800"/>
                    <a:pt x="17902" y="935874"/>
                    <a:pt x="10914" y="928886"/>
                  </a:cubicBezTo>
                  <a:cubicBezTo>
                    <a:pt x="3926" y="921898"/>
                    <a:pt x="0" y="912421"/>
                    <a:pt x="0" y="902538"/>
                  </a:cubicBezTo>
                  <a:lnTo>
                    <a:pt x="0" y="37262"/>
                  </a:lnTo>
                  <a:cubicBezTo>
                    <a:pt x="0" y="27379"/>
                    <a:pt x="3926" y="17902"/>
                    <a:pt x="10914" y="10914"/>
                  </a:cubicBezTo>
                  <a:cubicBezTo>
                    <a:pt x="17902" y="3926"/>
                    <a:pt x="27379" y="0"/>
                    <a:pt x="37262" y="0"/>
                  </a:cubicBez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59715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64"/>
                </a:lnSpc>
              </a:pPr>
              <a:r>
                <a:rPr lang="en-US" sz="975" b="true">
                  <a:solidFill>
                    <a:srgbClr val="103C63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INSIGHTS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2500" y="4476750"/>
            <a:ext cx="3952875" cy="1524000"/>
            <a:chOff x="0" y="0"/>
            <a:chExt cx="5270500" cy="2032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70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270500">
                  <a:moveTo>
                    <a:pt x="24482" y="0"/>
                  </a:moveTo>
                  <a:lnTo>
                    <a:pt x="5246018" y="0"/>
                  </a:lnTo>
                  <a:cubicBezTo>
                    <a:pt x="5252511" y="0"/>
                    <a:pt x="5258738" y="2579"/>
                    <a:pt x="5263330" y="7171"/>
                  </a:cubicBezTo>
                  <a:cubicBezTo>
                    <a:pt x="5267921" y="11762"/>
                    <a:pt x="5270500" y="17989"/>
                    <a:pt x="5270500" y="24482"/>
                  </a:cubicBezTo>
                  <a:lnTo>
                    <a:pt x="5270500" y="2007518"/>
                  </a:lnTo>
                  <a:cubicBezTo>
                    <a:pt x="5270500" y="2014011"/>
                    <a:pt x="5267921" y="2020238"/>
                    <a:pt x="5263330" y="2024830"/>
                  </a:cubicBezTo>
                  <a:cubicBezTo>
                    <a:pt x="5258738" y="2029421"/>
                    <a:pt x="5252511" y="2032000"/>
                    <a:pt x="5246018" y="2032000"/>
                  </a:cubicBezTo>
                  <a:lnTo>
                    <a:pt x="24482" y="2032000"/>
                  </a:lnTo>
                  <a:cubicBezTo>
                    <a:pt x="17989" y="2032000"/>
                    <a:pt x="11762" y="2029421"/>
                    <a:pt x="7171" y="2024830"/>
                  </a:cubicBezTo>
                  <a:cubicBezTo>
                    <a:pt x="2579" y="2020238"/>
                    <a:pt x="0" y="2014011"/>
                    <a:pt x="0" y="2007518"/>
                  </a:cubicBezTo>
                  <a:lnTo>
                    <a:pt x="0" y="24482"/>
                  </a:lnTo>
                  <a:cubicBezTo>
                    <a:pt x="0" y="17989"/>
                    <a:pt x="2579" y="11762"/>
                    <a:pt x="7171" y="7171"/>
                  </a:cubicBezTo>
                  <a:cubicBezTo>
                    <a:pt x="11762" y="2579"/>
                    <a:pt x="17989" y="0"/>
                    <a:pt x="24482" y="0"/>
                  </a:cubicBezTo>
                  <a:close/>
                </a:path>
              </a:pathLst>
            </a:custGeom>
            <a:solidFill>
              <a:srgbClr val="1A4A75"/>
            </a:solidFill>
            <a:ln w="9525" cap="sq">
              <a:solidFill>
                <a:srgbClr val="67B4E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270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95875" y="4476750"/>
            <a:ext cx="3952875" cy="1524000"/>
            <a:chOff x="0" y="0"/>
            <a:chExt cx="5270500" cy="203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70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270500">
                  <a:moveTo>
                    <a:pt x="24482" y="0"/>
                  </a:moveTo>
                  <a:lnTo>
                    <a:pt x="5246018" y="0"/>
                  </a:lnTo>
                  <a:cubicBezTo>
                    <a:pt x="5252511" y="0"/>
                    <a:pt x="5258738" y="2579"/>
                    <a:pt x="5263330" y="7171"/>
                  </a:cubicBezTo>
                  <a:cubicBezTo>
                    <a:pt x="5267921" y="11762"/>
                    <a:pt x="5270500" y="17989"/>
                    <a:pt x="5270500" y="24482"/>
                  </a:cubicBezTo>
                  <a:lnTo>
                    <a:pt x="5270500" y="2007518"/>
                  </a:lnTo>
                  <a:cubicBezTo>
                    <a:pt x="5270500" y="2014011"/>
                    <a:pt x="5267921" y="2020238"/>
                    <a:pt x="5263330" y="2024830"/>
                  </a:cubicBezTo>
                  <a:cubicBezTo>
                    <a:pt x="5258738" y="2029421"/>
                    <a:pt x="5252511" y="2032000"/>
                    <a:pt x="5246018" y="2032000"/>
                  </a:cubicBezTo>
                  <a:lnTo>
                    <a:pt x="24482" y="2032000"/>
                  </a:lnTo>
                  <a:cubicBezTo>
                    <a:pt x="17989" y="2032000"/>
                    <a:pt x="11762" y="2029421"/>
                    <a:pt x="7171" y="2024830"/>
                  </a:cubicBezTo>
                  <a:cubicBezTo>
                    <a:pt x="2579" y="2020238"/>
                    <a:pt x="0" y="2014011"/>
                    <a:pt x="0" y="2007518"/>
                  </a:cubicBezTo>
                  <a:lnTo>
                    <a:pt x="0" y="24482"/>
                  </a:lnTo>
                  <a:cubicBezTo>
                    <a:pt x="0" y="17989"/>
                    <a:pt x="2579" y="11762"/>
                    <a:pt x="7171" y="7171"/>
                  </a:cubicBezTo>
                  <a:cubicBezTo>
                    <a:pt x="11762" y="2579"/>
                    <a:pt x="17989" y="0"/>
                    <a:pt x="24482" y="0"/>
                  </a:cubicBezTo>
                  <a:close/>
                </a:path>
              </a:pathLst>
            </a:custGeom>
            <a:solidFill>
              <a:srgbClr val="1A4A75"/>
            </a:solidFill>
            <a:ln w="9525" cap="sq">
              <a:solidFill>
                <a:srgbClr val="67B4E6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270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39250" y="4476750"/>
            <a:ext cx="3952875" cy="1524000"/>
            <a:chOff x="0" y="0"/>
            <a:chExt cx="5270500" cy="203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70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270500">
                  <a:moveTo>
                    <a:pt x="24482" y="0"/>
                  </a:moveTo>
                  <a:lnTo>
                    <a:pt x="5246018" y="0"/>
                  </a:lnTo>
                  <a:cubicBezTo>
                    <a:pt x="5252511" y="0"/>
                    <a:pt x="5258738" y="2579"/>
                    <a:pt x="5263330" y="7171"/>
                  </a:cubicBezTo>
                  <a:cubicBezTo>
                    <a:pt x="5267921" y="11762"/>
                    <a:pt x="5270500" y="17989"/>
                    <a:pt x="5270500" y="24482"/>
                  </a:cubicBezTo>
                  <a:lnTo>
                    <a:pt x="5270500" y="2007518"/>
                  </a:lnTo>
                  <a:cubicBezTo>
                    <a:pt x="5270500" y="2014011"/>
                    <a:pt x="5267921" y="2020238"/>
                    <a:pt x="5263330" y="2024830"/>
                  </a:cubicBezTo>
                  <a:cubicBezTo>
                    <a:pt x="5258738" y="2029421"/>
                    <a:pt x="5252511" y="2032000"/>
                    <a:pt x="5246018" y="2032000"/>
                  </a:cubicBezTo>
                  <a:lnTo>
                    <a:pt x="24482" y="2032000"/>
                  </a:lnTo>
                  <a:cubicBezTo>
                    <a:pt x="17989" y="2032000"/>
                    <a:pt x="11762" y="2029421"/>
                    <a:pt x="7171" y="2024830"/>
                  </a:cubicBezTo>
                  <a:cubicBezTo>
                    <a:pt x="2579" y="2020238"/>
                    <a:pt x="0" y="2014011"/>
                    <a:pt x="0" y="2007518"/>
                  </a:cubicBezTo>
                  <a:lnTo>
                    <a:pt x="0" y="24482"/>
                  </a:lnTo>
                  <a:cubicBezTo>
                    <a:pt x="0" y="17989"/>
                    <a:pt x="2579" y="11762"/>
                    <a:pt x="7171" y="7171"/>
                  </a:cubicBezTo>
                  <a:cubicBezTo>
                    <a:pt x="11762" y="2579"/>
                    <a:pt x="17989" y="0"/>
                    <a:pt x="24482" y="0"/>
                  </a:cubicBezTo>
                  <a:close/>
                </a:path>
              </a:pathLst>
            </a:custGeom>
            <a:solidFill>
              <a:srgbClr val="1A4A75"/>
            </a:solidFill>
            <a:ln w="9525" cap="sq">
              <a:solidFill>
                <a:srgbClr val="67B4E6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270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382625" y="4476750"/>
            <a:ext cx="3952875" cy="1524000"/>
            <a:chOff x="0" y="0"/>
            <a:chExt cx="5270500" cy="203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70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270500">
                  <a:moveTo>
                    <a:pt x="24482" y="0"/>
                  </a:moveTo>
                  <a:lnTo>
                    <a:pt x="5246018" y="0"/>
                  </a:lnTo>
                  <a:cubicBezTo>
                    <a:pt x="5252511" y="0"/>
                    <a:pt x="5258738" y="2579"/>
                    <a:pt x="5263330" y="7171"/>
                  </a:cubicBezTo>
                  <a:cubicBezTo>
                    <a:pt x="5267921" y="11762"/>
                    <a:pt x="5270500" y="17989"/>
                    <a:pt x="5270500" y="24482"/>
                  </a:cubicBezTo>
                  <a:lnTo>
                    <a:pt x="5270500" y="2007518"/>
                  </a:lnTo>
                  <a:cubicBezTo>
                    <a:pt x="5270500" y="2014011"/>
                    <a:pt x="5267921" y="2020238"/>
                    <a:pt x="5263330" y="2024830"/>
                  </a:cubicBezTo>
                  <a:cubicBezTo>
                    <a:pt x="5258738" y="2029421"/>
                    <a:pt x="5252511" y="2032000"/>
                    <a:pt x="5246018" y="2032000"/>
                  </a:cubicBezTo>
                  <a:lnTo>
                    <a:pt x="24482" y="2032000"/>
                  </a:lnTo>
                  <a:cubicBezTo>
                    <a:pt x="17989" y="2032000"/>
                    <a:pt x="11762" y="2029421"/>
                    <a:pt x="7171" y="2024830"/>
                  </a:cubicBezTo>
                  <a:cubicBezTo>
                    <a:pt x="2579" y="2020238"/>
                    <a:pt x="0" y="2014011"/>
                    <a:pt x="0" y="2007518"/>
                  </a:cubicBezTo>
                  <a:lnTo>
                    <a:pt x="0" y="24482"/>
                  </a:lnTo>
                  <a:cubicBezTo>
                    <a:pt x="0" y="17989"/>
                    <a:pt x="2579" y="11762"/>
                    <a:pt x="7171" y="7171"/>
                  </a:cubicBezTo>
                  <a:cubicBezTo>
                    <a:pt x="11762" y="2579"/>
                    <a:pt x="17989" y="0"/>
                    <a:pt x="24482" y="0"/>
                  </a:cubicBezTo>
                  <a:close/>
                </a:path>
              </a:pathLst>
            </a:custGeom>
            <a:solidFill>
              <a:srgbClr val="1A4A75"/>
            </a:solidFill>
            <a:ln w="9525" cap="sq">
              <a:solidFill>
                <a:srgbClr val="67B4E6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270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81100" y="4686300"/>
            <a:ext cx="349567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REVENUE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1100" y="5000625"/>
            <a:ext cx="34956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$42.7M realized · $16.7M lost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24475" y="4686300"/>
            <a:ext cx="349567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MARKETING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324475" y="5000625"/>
            <a:ext cx="34956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OTA-heavy · Portugal top origin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67850" y="4686300"/>
            <a:ext cx="349567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CANCELLATION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67850" y="5000625"/>
            <a:ext cx="34956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37.5% overall · lead time driven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611225" y="4686300"/>
            <a:ext cx="349567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 b="true">
                <a:solidFill>
                  <a:srgbClr val="67B4E6"/>
                </a:solidFill>
                <a:latin typeface="Inter 1 Bold"/>
                <a:ea typeface="Inter 1 Bold"/>
                <a:cs typeface="Inter 1 Bold"/>
                <a:sym typeface="Inter 1 Bold"/>
              </a:rPr>
              <a:t>BEHAVIOR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11225" y="5000625"/>
            <a:ext cx="34956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18% room discrepancy · low repeat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2500" y="6728344"/>
            <a:ext cx="1428750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105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Thank You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500" y="8963025"/>
            <a:ext cx="14287500" cy="20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3C63"/>
                </a:solidFill>
                <a:latin typeface="Inter 1 Bold"/>
                <a:ea typeface="Inter 1 Bold"/>
                <a:cs typeface="Inter 1 Bold"/>
                <a:sym typeface="Inter 1 Bold"/>
              </a:rPr>
              <a:t>Karima Saad · Nourhan Wael · Elsayed Elsawaf · Walid Nofal · Hana Mohamed · Eman Elnahas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7B4E6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DAHVmXMXGD4</dc:identifier>
  <dcterms:modified xsi:type="dcterms:W3CDTF">2011-08-01T06:04:30Z</dcterms:modified>
  <cp:revision>1</cp:revision>
  <dc:title>Hotel Booking Analysis</dc:title>
</cp:coreProperties>
</file>